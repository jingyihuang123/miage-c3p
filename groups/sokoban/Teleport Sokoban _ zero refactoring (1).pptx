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83" r:id="rId5"/>
    <p:sldId id="279" r:id="rId6"/>
    <p:sldId id="280" r:id="rId7"/>
    <p:sldId id="282" r:id="rId8"/>
    <p:sldId id="281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84" r:id="rId27"/>
    <p:sldId id="276" r:id="rId28"/>
    <p:sldId id="277" r:id="rId29"/>
    <p:sldId id="278" r:id="rId30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B55AE86-D29F-4DFC-BC8B-F91AD12E0B3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224BB32-0043-49B2-B1DD-D33429A9B8D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06CCCDD-DE82-4430-9571-935DA511FB9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17CC6CE-42A1-4F62-9510-0F3AFF709B1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FBC04-A7D6-AD6F-1BCD-2A9041491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>
            <a:extLst>
              <a:ext uri="{FF2B5EF4-FFF2-40B4-BE49-F238E27FC236}">
                <a16:creationId xmlns:a16="http://schemas.microsoft.com/office/drawing/2014/main" id="{1F9EEA13-A109-A279-CE47-7FF73B476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>
            <a:extLst>
              <a:ext uri="{FF2B5EF4-FFF2-40B4-BE49-F238E27FC236}">
                <a16:creationId xmlns:a16="http://schemas.microsoft.com/office/drawing/2014/main" id="{1D66F15B-DACB-2DAF-5A7A-32DCB4EF742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>
            <a:extLst>
              <a:ext uri="{FF2B5EF4-FFF2-40B4-BE49-F238E27FC236}">
                <a16:creationId xmlns:a16="http://schemas.microsoft.com/office/drawing/2014/main" id="{D3BE7B27-B5D3-D230-F70C-48E86E7521D9}"/>
              </a:ext>
            </a:extLst>
          </p:cNvPr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D2C4C1-8CF0-4B95-96EC-022A1A2B51F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56950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98A29-8461-F03A-2417-5601F4D9C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>
            <a:extLst>
              <a:ext uri="{FF2B5EF4-FFF2-40B4-BE49-F238E27FC236}">
                <a16:creationId xmlns:a16="http://schemas.microsoft.com/office/drawing/2014/main" id="{D529C69A-9E85-7F9B-82BF-B271380A9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>
            <a:extLst>
              <a:ext uri="{FF2B5EF4-FFF2-40B4-BE49-F238E27FC236}">
                <a16:creationId xmlns:a16="http://schemas.microsoft.com/office/drawing/2014/main" id="{31B35CB6-584B-FF86-4242-17902E03282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>
            <a:extLst>
              <a:ext uri="{FF2B5EF4-FFF2-40B4-BE49-F238E27FC236}">
                <a16:creationId xmlns:a16="http://schemas.microsoft.com/office/drawing/2014/main" id="{9563DAC5-719D-81F5-F613-E6712D39B3A0}"/>
              </a:ext>
            </a:extLst>
          </p:cNvPr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D2C4C1-8CF0-4B95-96EC-022A1A2B51F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49660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B0BE3-774E-CEDE-3FEB-ADD49F380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>
            <a:extLst>
              <a:ext uri="{FF2B5EF4-FFF2-40B4-BE49-F238E27FC236}">
                <a16:creationId xmlns:a16="http://schemas.microsoft.com/office/drawing/2014/main" id="{DF590535-E00E-77AF-E845-1F347DE3F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>
            <a:extLst>
              <a:ext uri="{FF2B5EF4-FFF2-40B4-BE49-F238E27FC236}">
                <a16:creationId xmlns:a16="http://schemas.microsoft.com/office/drawing/2014/main" id="{6A438597-3EB0-4E62-1185-9DE96ED74E8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>
            <a:extLst>
              <a:ext uri="{FF2B5EF4-FFF2-40B4-BE49-F238E27FC236}">
                <a16:creationId xmlns:a16="http://schemas.microsoft.com/office/drawing/2014/main" id="{1FD1FC8D-C493-666E-874F-1A4853E0DD30}"/>
              </a:ext>
            </a:extLst>
          </p:cNvPr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D2C4C1-8CF0-4B95-96EC-022A1A2B51F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77740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CD685-1249-CFBF-9BE5-4F57EDA7B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>
            <a:extLst>
              <a:ext uri="{FF2B5EF4-FFF2-40B4-BE49-F238E27FC236}">
                <a16:creationId xmlns:a16="http://schemas.microsoft.com/office/drawing/2014/main" id="{5FC85B4E-26D6-F6DC-AC2D-8076E967F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>
            <a:extLst>
              <a:ext uri="{FF2B5EF4-FFF2-40B4-BE49-F238E27FC236}">
                <a16:creationId xmlns:a16="http://schemas.microsoft.com/office/drawing/2014/main" id="{5C735A18-EA53-E6EA-D5D7-D5ED4A2C117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>
            <a:extLst>
              <a:ext uri="{FF2B5EF4-FFF2-40B4-BE49-F238E27FC236}">
                <a16:creationId xmlns:a16="http://schemas.microsoft.com/office/drawing/2014/main" id="{8B020B37-A336-CC36-2867-4F94735EAD83}"/>
              </a:ext>
            </a:extLst>
          </p:cNvPr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D2C4C1-8CF0-4B95-96EC-022A1A2B51F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51704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7D3C0-B1B3-BB00-7C56-09341BD8D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>
            <a:extLst>
              <a:ext uri="{FF2B5EF4-FFF2-40B4-BE49-F238E27FC236}">
                <a16:creationId xmlns:a16="http://schemas.microsoft.com/office/drawing/2014/main" id="{77D3B801-17F9-51A4-D8E2-3AA4A2718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>
            <a:extLst>
              <a:ext uri="{FF2B5EF4-FFF2-40B4-BE49-F238E27FC236}">
                <a16:creationId xmlns:a16="http://schemas.microsoft.com/office/drawing/2014/main" id="{3F6D8806-B8DB-69D9-A314-84B4EEC3F15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>
            <a:extLst>
              <a:ext uri="{FF2B5EF4-FFF2-40B4-BE49-F238E27FC236}">
                <a16:creationId xmlns:a16="http://schemas.microsoft.com/office/drawing/2014/main" id="{38BB16D4-B3FC-4C63-0CE2-625656B29DC3}"/>
              </a:ext>
            </a:extLst>
          </p:cNvPr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D2C4C1-8CF0-4B95-96EC-022A1A2B51F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2078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93CAADB-B817-4079-82C6-F89DEFF5919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D2C4C1-8CF0-4B95-96EC-022A1A2B51F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E878E7E-6BA1-4ABD-80B1-5317B1EA99A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AF2F609-7466-459D-B497-EF1623B2DBD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484E05D-EA87-49FF-970C-8A73091CA3A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B911438-CD0C-41E7-9CE6-D36FA7E9C4C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0ED4FFB-855E-4774-93EC-07F2781B80F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73DAD19-24D5-41FD-9684-DD4A396DBEE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BD997A8-8DA1-4C0A-86BF-230D666D35C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799A7D1-BEF4-4F06-8E4E-19CAC8B0935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C15EBDD-A727-49BE-BBDB-99A22D2E99E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6351EB3-2640-4623-B767-8423632B236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E3ECC28-0726-4517-A5E4-852D4D97ED5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05A24DD-C440-4CE7-BE74-F05FDD24E34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0F900F3-686D-4B9A-B42B-9CA9AB117B9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F98DA6B-3EB4-4D9E-B6D1-16ABBDB7416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B08B7C9-0ABA-4548-A6C6-C82DC576778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3EFDD-394C-BC50-4DCB-16D28F21D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>
            <a:extLst>
              <a:ext uri="{FF2B5EF4-FFF2-40B4-BE49-F238E27FC236}">
                <a16:creationId xmlns:a16="http://schemas.microsoft.com/office/drawing/2014/main" id="{0C48D49C-861E-2137-D82F-FB517EAF2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>
            <a:extLst>
              <a:ext uri="{FF2B5EF4-FFF2-40B4-BE49-F238E27FC236}">
                <a16:creationId xmlns:a16="http://schemas.microsoft.com/office/drawing/2014/main" id="{F57AD829-80DD-9E73-6B3E-A08F73CF6B2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3">
            <a:extLst>
              <a:ext uri="{FF2B5EF4-FFF2-40B4-BE49-F238E27FC236}">
                <a16:creationId xmlns:a16="http://schemas.microsoft.com/office/drawing/2014/main" id="{A6F2563A-F70B-B05B-53E8-52782A021FDB}"/>
              </a:ext>
            </a:extLst>
          </p:cNvPr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B08B7C9-0ABA-4548-A6C6-C82DC576778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422330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D49E71E-53AA-4AD2-913C-EE3329F4A20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86A846F-AFFE-4E29-BC14-07CE5E8EFBC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46719B1-C546-486D-A736-58BB0C698D1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9493200" y="6143760"/>
            <a:ext cx="2541600" cy="5108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9493200" y="6143760"/>
            <a:ext cx="2541600" cy="51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9493200" y="5563800"/>
            <a:ext cx="2541600" cy="5108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9493200" y="5563800"/>
            <a:ext cx="2541600" cy="51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1870560" y="1315080"/>
            <a:ext cx="8588160" cy="177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 Sokoban 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675160" y="1055520"/>
            <a:ext cx="336960" cy="336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2675160" y="105552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635280" y="1055520"/>
            <a:ext cx="336960" cy="336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3635280" y="105552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3155400" y="1055520"/>
            <a:ext cx="336960" cy="336960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3155400" y="105552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4115520" y="1055520"/>
            <a:ext cx="336960" cy="336960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4115520" y="105552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9538200" y="5588640"/>
            <a:ext cx="2496600" cy="55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jingyi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9538200" y="6152040"/>
            <a:ext cx="2496600" cy="55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2025 12 11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291240" y="607500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291240" y="630864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291240" y="654228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4888080" y="1223640"/>
            <a:ext cx="544824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588680" y="2950560"/>
            <a:ext cx="874764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0342080" y="1207080"/>
            <a:ext cx="360" cy="17589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582920" y="1223640"/>
            <a:ext cx="360" cy="175860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1557000" y="1210680"/>
            <a:ext cx="74232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0" descr="https://kimi-img.moonshot.cn/pub/slides/slides_tmpl/image/25-09-04-14:55:18-d2sjflm1bb2p4onbq19g.png"/>
          <p:cNvPicPr/>
          <p:nvPr/>
        </p:nvPicPr>
        <p:blipFill>
          <a:blip r:embed="rId3"/>
          <a:srcRect b="42276"/>
          <a:stretch/>
        </p:blipFill>
        <p:spPr>
          <a:xfrm>
            <a:off x="2338200" y="2733840"/>
            <a:ext cx="7029720" cy="4123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/>
          <p:nvPr/>
        </p:nvSpPr>
        <p:spPr>
          <a:xfrm>
            <a:off x="628560" y="716400"/>
            <a:ext cx="999000" cy="29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20000"/>
              </a:lnSpc>
            </a:pPr>
            <a:r>
              <a:rPr lang="zh-CN" sz="8000" b="1" u="none" strike="noStrike">
                <a:solidFill>
                  <a:srgbClr val="00B0F0"/>
                </a:solidFill>
                <a:effectLst/>
                <a:uFillTx/>
                <a:latin typeface="MiSans"/>
                <a:ea typeface="MiSans"/>
              </a:rPr>
              <a:t>目录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3080520" y="716400"/>
            <a:ext cx="5185800" cy="50688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3080520" y="716400"/>
            <a:ext cx="5185800" cy="50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3"/>
          <p:cNvSpPr/>
          <p:nvPr/>
        </p:nvSpPr>
        <p:spPr>
          <a:xfrm>
            <a:off x="4122720" y="824040"/>
            <a:ext cx="360" cy="303480"/>
          </a:xfrm>
          <a:prstGeom prst="line">
            <a:avLst/>
          </a:prstGeom>
          <a:ln w="762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4"/>
          <p:cNvSpPr/>
          <p:nvPr/>
        </p:nvSpPr>
        <p:spPr>
          <a:xfrm>
            <a:off x="3080520" y="1810440"/>
            <a:ext cx="5185800" cy="5068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5"/>
          <p:cNvSpPr/>
          <p:nvPr/>
        </p:nvSpPr>
        <p:spPr>
          <a:xfrm>
            <a:off x="3080520" y="1810440"/>
            <a:ext cx="5185800" cy="50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6"/>
          <p:cNvSpPr/>
          <p:nvPr/>
        </p:nvSpPr>
        <p:spPr>
          <a:xfrm>
            <a:off x="4122720" y="1918080"/>
            <a:ext cx="360" cy="303480"/>
          </a:xfrm>
          <a:prstGeom prst="line">
            <a:avLst/>
          </a:prstGeom>
          <a:ln w="76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7"/>
          <p:cNvSpPr/>
          <p:nvPr/>
        </p:nvSpPr>
        <p:spPr>
          <a:xfrm>
            <a:off x="3080880" y="3998520"/>
            <a:ext cx="5185800" cy="5068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8"/>
          <p:cNvSpPr/>
          <p:nvPr/>
        </p:nvSpPr>
        <p:spPr>
          <a:xfrm>
            <a:off x="3080880" y="3998520"/>
            <a:ext cx="5185800" cy="50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9"/>
          <p:cNvSpPr/>
          <p:nvPr/>
        </p:nvSpPr>
        <p:spPr>
          <a:xfrm>
            <a:off x="4123440" y="4106520"/>
            <a:ext cx="360" cy="303480"/>
          </a:xfrm>
          <a:prstGeom prst="line">
            <a:avLst/>
          </a:prstGeom>
          <a:ln w="76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0"/>
          <p:cNvSpPr/>
          <p:nvPr/>
        </p:nvSpPr>
        <p:spPr>
          <a:xfrm>
            <a:off x="-24120" y="6262200"/>
            <a:ext cx="12215880" cy="46836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1"/>
          <p:cNvSpPr/>
          <p:nvPr/>
        </p:nvSpPr>
        <p:spPr>
          <a:xfrm>
            <a:off x="-24120" y="6262200"/>
            <a:ext cx="12215880" cy="46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2"/>
          <p:cNvSpPr/>
          <p:nvPr/>
        </p:nvSpPr>
        <p:spPr>
          <a:xfrm>
            <a:off x="3080520" y="2904480"/>
            <a:ext cx="5185800" cy="50688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3"/>
          <p:cNvSpPr/>
          <p:nvPr/>
        </p:nvSpPr>
        <p:spPr>
          <a:xfrm>
            <a:off x="3080520" y="2904480"/>
            <a:ext cx="5185800" cy="50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4"/>
          <p:cNvSpPr/>
          <p:nvPr/>
        </p:nvSpPr>
        <p:spPr>
          <a:xfrm>
            <a:off x="4122720" y="3012120"/>
            <a:ext cx="360" cy="303840"/>
          </a:xfrm>
          <a:prstGeom prst="line">
            <a:avLst/>
          </a:prstGeom>
          <a:ln w="762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5"/>
          <p:cNvSpPr/>
          <p:nvPr/>
        </p:nvSpPr>
        <p:spPr>
          <a:xfrm>
            <a:off x="3080520" y="5092560"/>
            <a:ext cx="5185800" cy="50688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6"/>
          <p:cNvSpPr/>
          <p:nvPr/>
        </p:nvSpPr>
        <p:spPr>
          <a:xfrm>
            <a:off x="3080520" y="5092560"/>
            <a:ext cx="5185800" cy="50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7"/>
          <p:cNvSpPr/>
          <p:nvPr/>
        </p:nvSpPr>
        <p:spPr>
          <a:xfrm>
            <a:off x="4122720" y="5200560"/>
            <a:ext cx="360" cy="303480"/>
          </a:xfrm>
          <a:prstGeom prst="line">
            <a:avLst/>
          </a:prstGeom>
          <a:ln w="762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0" descr="https://kimi-img.moonshot.cn/pub/slides/slides_tmpl/image/25-09-04-14:55:18-d2sjflm1bb2p4onbq180.png"/>
          <p:cNvPicPr/>
          <p:nvPr/>
        </p:nvPicPr>
        <p:blipFill>
          <a:blip r:embed="rId3"/>
          <a:stretch/>
        </p:blipFill>
        <p:spPr>
          <a:xfrm>
            <a:off x="9222840" y="2921760"/>
            <a:ext cx="2205720" cy="2817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Image 1" descr="https://kimi-img.moonshot.cn/pub/slides/slides_tmpl/image/25-09-04-14:55:18-d2sjflm1bb2p4onbq18g.png"/>
          <p:cNvPicPr/>
          <p:nvPr/>
        </p:nvPicPr>
        <p:blipFill>
          <a:blip r:embed="rId4"/>
          <a:stretch/>
        </p:blipFill>
        <p:spPr>
          <a:xfrm>
            <a:off x="9289800" y="1166040"/>
            <a:ext cx="2034360" cy="259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Shape 18"/>
          <p:cNvSpPr/>
          <p:nvPr/>
        </p:nvSpPr>
        <p:spPr>
          <a:xfrm>
            <a:off x="291600" y="202680"/>
            <a:ext cx="336960" cy="336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9"/>
          <p:cNvSpPr/>
          <p:nvPr/>
        </p:nvSpPr>
        <p:spPr>
          <a:xfrm>
            <a:off x="29160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0"/>
          <p:cNvSpPr/>
          <p:nvPr/>
        </p:nvSpPr>
        <p:spPr>
          <a:xfrm>
            <a:off x="1251720" y="202680"/>
            <a:ext cx="336960" cy="336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1"/>
          <p:cNvSpPr/>
          <p:nvPr/>
        </p:nvSpPr>
        <p:spPr>
          <a:xfrm>
            <a:off x="125172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2"/>
          <p:cNvSpPr/>
          <p:nvPr/>
        </p:nvSpPr>
        <p:spPr>
          <a:xfrm>
            <a:off x="771480" y="202680"/>
            <a:ext cx="336960" cy="336960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3"/>
          <p:cNvSpPr/>
          <p:nvPr/>
        </p:nvSpPr>
        <p:spPr>
          <a:xfrm>
            <a:off x="77148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4"/>
          <p:cNvSpPr/>
          <p:nvPr/>
        </p:nvSpPr>
        <p:spPr>
          <a:xfrm>
            <a:off x="1731600" y="202680"/>
            <a:ext cx="336960" cy="336960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5"/>
          <p:cNvSpPr/>
          <p:nvPr/>
        </p:nvSpPr>
        <p:spPr>
          <a:xfrm>
            <a:off x="173160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6"/>
          <p:cNvSpPr/>
          <p:nvPr/>
        </p:nvSpPr>
        <p:spPr>
          <a:xfrm>
            <a:off x="-24120" y="6479640"/>
            <a:ext cx="12215880" cy="377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7"/>
          <p:cNvSpPr/>
          <p:nvPr/>
        </p:nvSpPr>
        <p:spPr>
          <a:xfrm>
            <a:off x="-24120" y="6479640"/>
            <a:ext cx="12215880" cy="37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2" descr="https://kimi-img.moonshot.cn/pub/slides/slides_tmpl/image/25-09-04-14:55:18-d2sjflm1bb2p4onbq190.png"/>
          <p:cNvPicPr/>
          <p:nvPr/>
        </p:nvPicPr>
        <p:blipFill>
          <a:blip r:embed="rId5"/>
          <a:stretch/>
        </p:blipFill>
        <p:spPr>
          <a:xfrm>
            <a:off x="1751400" y="716400"/>
            <a:ext cx="865080" cy="30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28"/>
          <p:cNvSpPr/>
          <p:nvPr/>
        </p:nvSpPr>
        <p:spPr>
          <a:xfrm>
            <a:off x="3207960" y="675720"/>
            <a:ext cx="8467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01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9"/>
          <p:cNvSpPr/>
          <p:nvPr/>
        </p:nvSpPr>
        <p:spPr>
          <a:xfrm>
            <a:off x="4286160" y="767160"/>
            <a:ext cx="3784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Objectif du téléporteur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0"/>
          <p:cNvSpPr/>
          <p:nvPr/>
        </p:nvSpPr>
        <p:spPr>
          <a:xfrm>
            <a:off x="3207960" y="1769760"/>
            <a:ext cx="8467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02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1"/>
          <p:cNvSpPr/>
          <p:nvPr/>
        </p:nvSpPr>
        <p:spPr>
          <a:xfrm>
            <a:off x="4286160" y="1861200"/>
            <a:ext cx="3784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MygSkTeleport &gt;&gt; bringIn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2"/>
          <p:cNvSpPr/>
          <p:nvPr/>
        </p:nvSpPr>
        <p:spPr>
          <a:xfrm>
            <a:off x="3207960" y="2863800"/>
            <a:ext cx="8467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03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3"/>
          <p:cNvSpPr/>
          <p:nvPr/>
        </p:nvSpPr>
        <p:spPr>
          <a:xfrm>
            <a:off x="4286160" y="2955240"/>
            <a:ext cx="3784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teleportPlayer et partner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4"/>
          <p:cNvSpPr/>
          <p:nvPr/>
        </p:nvSpPr>
        <p:spPr>
          <a:xfrm>
            <a:off x="3208680" y="3957840"/>
            <a:ext cx="8467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04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5"/>
          <p:cNvSpPr/>
          <p:nvPr/>
        </p:nvSpPr>
        <p:spPr>
          <a:xfrm>
            <a:off x="4286880" y="4049280"/>
            <a:ext cx="3784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Polymorphisme et accès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6"/>
          <p:cNvSpPr/>
          <p:nvPr/>
        </p:nvSpPr>
        <p:spPr>
          <a:xfrm>
            <a:off x="3207960" y="5052240"/>
            <a:ext cx="8467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05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7"/>
          <p:cNvSpPr/>
          <p:nvPr/>
        </p:nvSpPr>
        <p:spPr>
          <a:xfrm>
            <a:off x="4286160" y="5143680"/>
            <a:ext cx="3784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Cooldown et synchronisation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628560" y="716400"/>
            <a:ext cx="999000" cy="29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20000"/>
              </a:lnSpc>
            </a:pPr>
            <a:r>
              <a:rPr lang="zh-CN" sz="8000" b="1" u="none" strike="noStrike">
                <a:solidFill>
                  <a:srgbClr val="00B0F0"/>
                </a:solidFill>
                <a:effectLst/>
                <a:uFillTx/>
                <a:latin typeface="MiSans"/>
                <a:ea typeface="MiSans"/>
              </a:rPr>
              <a:t>目录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"/>
          <p:cNvSpPr/>
          <p:nvPr/>
        </p:nvSpPr>
        <p:spPr>
          <a:xfrm>
            <a:off x="3080520" y="1166040"/>
            <a:ext cx="5185800" cy="50688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"/>
          <p:cNvSpPr/>
          <p:nvPr/>
        </p:nvSpPr>
        <p:spPr>
          <a:xfrm>
            <a:off x="3080520" y="1166040"/>
            <a:ext cx="5185800" cy="50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4122720" y="1273680"/>
            <a:ext cx="360" cy="303480"/>
          </a:xfrm>
          <a:prstGeom prst="line">
            <a:avLst/>
          </a:prstGeom>
          <a:ln w="762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4"/>
          <p:cNvSpPr/>
          <p:nvPr/>
        </p:nvSpPr>
        <p:spPr>
          <a:xfrm>
            <a:off x="3080520" y="2952720"/>
            <a:ext cx="5185800" cy="5068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3080520" y="2952720"/>
            <a:ext cx="5185800" cy="50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6"/>
          <p:cNvSpPr/>
          <p:nvPr/>
        </p:nvSpPr>
        <p:spPr>
          <a:xfrm>
            <a:off x="4122720" y="3060360"/>
            <a:ext cx="360" cy="303840"/>
          </a:xfrm>
          <a:prstGeom prst="line">
            <a:avLst/>
          </a:prstGeom>
          <a:ln w="762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7"/>
          <p:cNvSpPr/>
          <p:nvPr/>
        </p:nvSpPr>
        <p:spPr>
          <a:xfrm>
            <a:off x="-24120" y="6262200"/>
            <a:ext cx="12215880" cy="46836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-24120" y="6262200"/>
            <a:ext cx="12215880" cy="46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0" descr="https://kimi-img.moonshot.cn/pub/slides/slides_tmpl/image/25-09-04-14:55:18-d2sjflm1bb2p4onbq180.png"/>
          <p:cNvPicPr/>
          <p:nvPr/>
        </p:nvPicPr>
        <p:blipFill>
          <a:blip r:embed="rId3"/>
          <a:stretch/>
        </p:blipFill>
        <p:spPr>
          <a:xfrm>
            <a:off x="9222840" y="2921760"/>
            <a:ext cx="2205720" cy="2817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Image 1" descr="https://kimi-img.moonshot.cn/pub/slides/slides_tmpl/image/25-09-04-14:55:18-d2sjflm1bb2p4onbq18g.png"/>
          <p:cNvPicPr/>
          <p:nvPr/>
        </p:nvPicPr>
        <p:blipFill>
          <a:blip r:embed="rId4"/>
          <a:stretch/>
        </p:blipFill>
        <p:spPr>
          <a:xfrm>
            <a:off x="9289800" y="1166040"/>
            <a:ext cx="2034360" cy="259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Shape 9"/>
          <p:cNvSpPr/>
          <p:nvPr/>
        </p:nvSpPr>
        <p:spPr>
          <a:xfrm>
            <a:off x="291600" y="202680"/>
            <a:ext cx="336960" cy="336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0"/>
          <p:cNvSpPr/>
          <p:nvPr/>
        </p:nvSpPr>
        <p:spPr>
          <a:xfrm>
            <a:off x="29160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1"/>
          <p:cNvSpPr/>
          <p:nvPr/>
        </p:nvSpPr>
        <p:spPr>
          <a:xfrm>
            <a:off x="1251720" y="202680"/>
            <a:ext cx="336960" cy="336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125172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3"/>
          <p:cNvSpPr/>
          <p:nvPr/>
        </p:nvSpPr>
        <p:spPr>
          <a:xfrm>
            <a:off x="771480" y="202680"/>
            <a:ext cx="336960" cy="336960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4"/>
          <p:cNvSpPr/>
          <p:nvPr/>
        </p:nvSpPr>
        <p:spPr>
          <a:xfrm>
            <a:off x="77148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5"/>
          <p:cNvSpPr/>
          <p:nvPr/>
        </p:nvSpPr>
        <p:spPr>
          <a:xfrm>
            <a:off x="1731600" y="202680"/>
            <a:ext cx="336960" cy="336960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6"/>
          <p:cNvSpPr/>
          <p:nvPr/>
        </p:nvSpPr>
        <p:spPr>
          <a:xfrm>
            <a:off x="173160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7"/>
          <p:cNvSpPr/>
          <p:nvPr/>
        </p:nvSpPr>
        <p:spPr>
          <a:xfrm>
            <a:off x="-24120" y="6479640"/>
            <a:ext cx="12215880" cy="377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8"/>
          <p:cNvSpPr/>
          <p:nvPr/>
        </p:nvSpPr>
        <p:spPr>
          <a:xfrm>
            <a:off x="-24120" y="6479640"/>
            <a:ext cx="12215880" cy="37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Image 2" descr="https://kimi-img.moonshot.cn/pub/slides/slides_tmpl/image/25-09-04-14:55:18-d2sjflm1bb2p4onbq190.png"/>
          <p:cNvPicPr/>
          <p:nvPr/>
        </p:nvPicPr>
        <p:blipFill>
          <a:blip r:embed="rId5"/>
          <a:stretch/>
        </p:blipFill>
        <p:spPr>
          <a:xfrm>
            <a:off x="1751400" y="716400"/>
            <a:ext cx="865080" cy="30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 19"/>
          <p:cNvSpPr/>
          <p:nvPr/>
        </p:nvSpPr>
        <p:spPr>
          <a:xfrm>
            <a:off x="3207960" y="1125360"/>
            <a:ext cx="8467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01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0"/>
          <p:cNvSpPr/>
          <p:nvPr/>
        </p:nvSpPr>
        <p:spPr>
          <a:xfrm>
            <a:off x="4286160" y="1216800"/>
            <a:ext cx="3784320" cy="65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Déclenchement dans move et manageEvent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1"/>
          <p:cNvSpPr/>
          <p:nvPr/>
        </p:nvSpPr>
        <p:spPr>
          <a:xfrm>
            <a:off x="3207960" y="2912040"/>
            <a:ext cx="8467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02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2"/>
          <p:cNvSpPr/>
          <p:nvPr/>
        </p:nvSpPr>
        <p:spPr>
          <a:xfrm>
            <a:off x="4286160" y="3003480"/>
            <a:ext cx="3784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Conclusion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9C6A87-8DD0-231D-5034-DAC0F8772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>
            <a:extLst>
              <a:ext uri="{FF2B5EF4-FFF2-40B4-BE49-F238E27FC236}">
                <a16:creationId xmlns:a16="http://schemas.microsoft.com/office/drawing/2014/main" id="{8BAEC73A-7ED4-E310-B23D-88079BE789FC}"/>
              </a:ext>
            </a:extLst>
          </p:cNvPr>
          <p:cNvSpPr/>
          <p:nvPr/>
        </p:nvSpPr>
        <p:spPr>
          <a:xfrm>
            <a:off x="660240" y="1866960"/>
            <a:ext cx="1130256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3600" dirty="0" err="1"/>
              <a:t>github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">
            <a:extLst>
              <a:ext uri="{FF2B5EF4-FFF2-40B4-BE49-F238E27FC236}">
                <a16:creationId xmlns:a16="http://schemas.microsoft.com/office/drawing/2014/main" id="{994C9B8B-5CEC-F910-3DD5-31FC0FEDE87D}"/>
              </a:ext>
            </a:extLst>
          </p:cNvPr>
          <p:cNvSpPr/>
          <p:nvPr/>
        </p:nvSpPr>
        <p:spPr>
          <a:xfrm>
            <a:off x="660240" y="2476440"/>
            <a:ext cx="1218960" cy="75960"/>
          </a:xfrm>
          <a:custGeom>
            <a:avLst/>
            <a:gdLst>
              <a:gd name="textAreaLeft" fmla="*/ 0 w 1218960"/>
              <a:gd name="textAreaRight" fmla="*/ 1219320 w 1218960"/>
              <a:gd name="textAreaTop" fmla="*/ 0 h 75960"/>
              <a:gd name="textAreaBottom" fmla="*/ 76320 h 75960"/>
            </a:gdLst>
            <a:ahLst/>
            <a:cxnLst/>
            <a:rect l="textAreaLeft" t="textAreaTop" r="textAreaRight" b="textAreaBottom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2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">
            <a:extLst>
              <a:ext uri="{FF2B5EF4-FFF2-40B4-BE49-F238E27FC236}">
                <a16:creationId xmlns:a16="http://schemas.microsoft.com/office/drawing/2014/main" id="{98522A7D-569D-39CC-8984-A06705E7F47E}"/>
              </a:ext>
            </a:extLst>
          </p:cNvPr>
          <p:cNvSpPr/>
          <p:nvPr/>
        </p:nvSpPr>
        <p:spPr>
          <a:xfrm>
            <a:off x="660240" y="3813794"/>
            <a:ext cx="5540260" cy="5296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b="1" u="none" strike="noStrike" dirty="0">
                <a:solidFill>
                  <a:srgbClr val="4080FF"/>
                </a:solidFill>
                <a:effectLst/>
                <a:uFillTx/>
                <a:latin typeface="Noto Sans SC"/>
                <a:ea typeface="Noto Sans SC"/>
              </a:rPr>
              <a:t>🎯</a:t>
            </a:r>
            <a:r>
              <a:rPr lang="en-US" altLang="zh-CN" sz="2000" b="1" u="none" strike="noStrike" dirty="0" err="1">
                <a:solidFill>
                  <a:srgbClr val="4080FF"/>
                </a:solidFill>
                <a:effectLst/>
                <a:uFillTx/>
                <a:latin typeface="Noto Sans SC"/>
                <a:ea typeface="Noto Sans SC"/>
              </a:rPr>
              <a:t>jingyi</a:t>
            </a:r>
            <a:r>
              <a:rPr lang="fr-FR" altLang="zh-CN" sz="2000" dirty="0"/>
              <a:t>:https://github.com/jingyihuang123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">
            <a:extLst>
              <a:ext uri="{FF2B5EF4-FFF2-40B4-BE49-F238E27FC236}">
                <a16:creationId xmlns:a16="http://schemas.microsoft.com/office/drawing/2014/main" id="{C3C54458-5A6A-AC83-D287-ED7ECA9E9DDE}"/>
              </a:ext>
            </a:extLst>
          </p:cNvPr>
          <p:cNvSpPr/>
          <p:nvPr/>
        </p:nvSpPr>
        <p:spPr>
          <a:xfrm>
            <a:off x="660240" y="3314880"/>
            <a:ext cx="5799768" cy="132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694F03D1-E36C-1700-0A93-427203D0A19B}"/>
              </a:ext>
            </a:extLst>
          </p:cNvPr>
          <p:cNvSpPr/>
          <p:nvPr/>
        </p:nvSpPr>
        <p:spPr>
          <a:xfrm>
            <a:off x="660240" y="3314880"/>
            <a:ext cx="546048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b="1" u="none" strike="noStrike" dirty="0">
                <a:solidFill>
                  <a:srgbClr val="4080FF"/>
                </a:solidFill>
                <a:effectLst/>
                <a:uFillTx/>
                <a:latin typeface="Noto Sans SC"/>
                <a:ea typeface="Noto Sans SC"/>
              </a:rPr>
              <a:t>🎯</a:t>
            </a:r>
            <a:r>
              <a:rPr lang="en-US" altLang="zh-CN" sz="2000" b="1" u="none" strike="noStrike" dirty="0">
                <a:solidFill>
                  <a:srgbClr val="4080FF"/>
                </a:solidFill>
                <a:effectLst/>
                <a:uFillTx/>
                <a:latin typeface="Noto Sans SC"/>
                <a:ea typeface="Noto Sans SC"/>
              </a:rPr>
              <a:t>group</a:t>
            </a:r>
            <a:r>
              <a:rPr lang="fr-FR" altLang="zh-CN" sz="2000" dirty="0"/>
              <a:t>: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8C1635-6D08-4B26-1C1F-0A7EEE1997D7}"/>
              </a:ext>
            </a:extLst>
          </p:cNvPr>
          <p:cNvSpPr txBox="1"/>
          <p:nvPr/>
        </p:nvSpPr>
        <p:spPr>
          <a:xfrm>
            <a:off x="1879200" y="3167463"/>
            <a:ext cx="68564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https://github.com/Fanomezantsoa-Beatrice/Myg_Angela_jingyi_Amine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18527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245BAA-F737-E5D7-CAFF-8906DBB57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>
            <a:extLst>
              <a:ext uri="{FF2B5EF4-FFF2-40B4-BE49-F238E27FC236}">
                <a16:creationId xmlns:a16="http://schemas.microsoft.com/office/drawing/2014/main" id="{DF264CFE-61C6-C126-2BB0-6847020AD8CB}"/>
              </a:ext>
            </a:extLst>
          </p:cNvPr>
          <p:cNvSpPr/>
          <p:nvPr/>
        </p:nvSpPr>
        <p:spPr>
          <a:xfrm>
            <a:off x="660240" y="1866960"/>
            <a:ext cx="1130256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3600" dirty="0"/>
              <a:t>Avant (design initial)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">
            <a:extLst>
              <a:ext uri="{FF2B5EF4-FFF2-40B4-BE49-F238E27FC236}">
                <a16:creationId xmlns:a16="http://schemas.microsoft.com/office/drawing/2014/main" id="{89403A2B-6EFD-8326-9BC3-A4254E36718C}"/>
              </a:ext>
            </a:extLst>
          </p:cNvPr>
          <p:cNvSpPr/>
          <p:nvPr/>
        </p:nvSpPr>
        <p:spPr>
          <a:xfrm>
            <a:off x="660240" y="2476440"/>
            <a:ext cx="1218960" cy="75960"/>
          </a:xfrm>
          <a:custGeom>
            <a:avLst/>
            <a:gdLst>
              <a:gd name="textAreaLeft" fmla="*/ 0 w 1218960"/>
              <a:gd name="textAreaRight" fmla="*/ 1219320 w 1218960"/>
              <a:gd name="textAreaTop" fmla="*/ 0 h 75960"/>
              <a:gd name="textAreaBottom" fmla="*/ 76320 h 75960"/>
            </a:gdLst>
            <a:ahLst/>
            <a:cxnLst/>
            <a:rect l="textAreaLeft" t="textAreaTop" r="textAreaRight" b="textAreaBottom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2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">
            <a:extLst>
              <a:ext uri="{FF2B5EF4-FFF2-40B4-BE49-F238E27FC236}">
                <a16:creationId xmlns:a16="http://schemas.microsoft.com/office/drawing/2014/main" id="{A9A2B377-ADD7-E8F7-35C4-D4270664BDBA}"/>
              </a:ext>
            </a:extLst>
          </p:cNvPr>
          <p:cNvSpPr/>
          <p:nvPr/>
        </p:nvSpPr>
        <p:spPr>
          <a:xfrm>
            <a:off x="660240" y="2857680"/>
            <a:ext cx="546048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b="1" u="none" strike="noStrike" dirty="0">
                <a:solidFill>
                  <a:srgbClr val="4080FF"/>
                </a:solidFill>
                <a:effectLst/>
                <a:uFillTx/>
                <a:latin typeface="Noto Sans SC"/>
                <a:ea typeface="Noto Sans SC"/>
              </a:rPr>
              <a:t>🎯 </a:t>
            </a:r>
            <a:r>
              <a:rPr lang="fr-FR" altLang="zh-CN" sz="2000" dirty="0"/>
              <a:t>Dans la version originale du projet :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">
            <a:extLst>
              <a:ext uri="{FF2B5EF4-FFF2-40B4-BE49-F238E27FC236}">
                <a16:creationId xmlns:a16="http://schemas.microsoft.com/office/drawing/2014/main" id="{E4EFEE1B-FC4F-D2EF-CB39-D697EDA7DCBF}"/>
              </a:ext>
            </a:extLst>
          </p:cNvPr>
          <p:cNvSpPr/>
          <p:nvPr/>
        </p:nvSpPr>
        <p:spPr>
          <a:xfrm>
            <a:off x="660240" y="3314880"/>
            <a:ext cx="5799768" cy="132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fr-FR" sz="16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Aucun système d’affichage du nombre de pas n’était implémenté.</a:t>
            </a:r>
          </a:p>
          <a:p>
            <a:pPr>
              <a:lnSpc>
                <a:spcPct val="130000"/>
              </a:lnSpc>
            </a:pPr>
            <a:r>
              <a:rPr lang="fr-FR" sz="16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Aucune tuile de téléportation n’existait dans le jeu.</a:t>
            </a:r>
          </a:p>
          <a:p>
            <a:pPr>
              <a:lnSpc>
                <a:spcPct val="130000"/>
              </a:lnSpc>
            </a:pPr>
            <a:r>
              <a:rPr lang="fr-FR" sz="16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Le joueur se déplaçait simplement sur le plateau sans mécanique avancée.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6">
            <a:extLst>
              <a:ext uri="{FF2B5EF4-FFF2-40B4-BE49-F238E27FC236}">
                <a16:creationId xmlns:a16="http://schemas.microsoft.com/office/drawing/2014/main" id="{F5857F18-AE1D-E78E-B6B7-A2FE7B45D716}"/>
              </a:ext>
            </a:extLst>
          </p:cNvPr>
          <p:cNvSpPr/>
          <p:nvPr/>
        </p:nvSpPr>
        <p:spPr>
          <a:xfrm>
            <a:off x="660240" y="4635360"/>
            <a:ext cx="360" cy="355680"/>
          </a:xfrm>
          <a:prstGeom prst="line">
            <a:avLst/>
          </a:prstGeom>
          <a:ln w="50800">
            <a:solidFill>
              <a:srgbClr val="00AE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7">
            <a:extLst>
              <a:ext uri="{FF2B5EF4-FFF2-40B4-BE49-F238E27FC236}">
                <a16:creationId xmlns:a16="http://schemas.microsoft.com/office/drawing/2014/main" id="{05385DB0-E819-288C-39CB-65F861D71AD9}"/>
              </a:ext>
            </a:extLst>
          </p:cNvPr>
          <p:cNvSpPr/>
          <p:nvPr/>
        </p:nvSpPr>
        <p:spPr>
          <a:xfrm>
            <a:off x="914400" y="4635360"/>
            <a:ext cx="1093428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fr-FR" altLang="zh-CN" dirty="0"/>
              <a:t>Le jeu était donc limité à un déplacement classique, sans optimisation ni éléments interactifs supplémentaires.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036577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293939-C516-213D-E1C4-96B9DE98B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>
            <a:extLst>
              <a:ext uri="{FF2B5EF4-FFF2-40B4-BE49-F238E27FC236}">
                <a16:creationId xmlns:a16="http://schemas.microsoft.com/office/drawing/2014/main" id="{78D12900-9765-82AF-0EE1-B412A3D0447E}"/>
              </a:ext>
            </a:extLst>
          </p:cNvPr>
          <p:cNvSpPr/>
          <p:nvPr/>
        </p:nvSpPr>
        <p:spPr>
          <a:xfrm>
            <a:off x="660240" y="1866960"/>
            <a:ext cx="1130256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3600" dirty="0"/>
              <a:t>Après (design </a:t>
            </a:r>
            <a:r>
              <a:rPr lang="en-US" altLang="zh-CN" sz="3600" dirty="0" err="1"/>
              <a:t>amélioré</a:t>
            </a:r>
            <a:r>
              <a:rPr lang="en-US" altLang="zh-CN" sz="3600" dirty="0"/>
              <a:t>)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">
            <a:extLst>
              <a:ext uri="{FF2B5EF4-FFF2-40B4-BE49-F238E27FC236}">
                <a16:creationId xmlns:a16="http://schemas.microsoft.com/office/drawing/2014/main" id="{E8CC9573-AF3A-36EC-81D5-95C585F4441F}"/>
              </a:ext>
            </a:extLst>
          </p:cNvPr>
          <p:cNvSpPr/>
          <p:nvPr/>
        </p:nvSpPr>
        <p:spPr>
          <a:xfrm>
            <a:off x="660240" y="2476440"/>
            <a:ext cx="1218960" cy="75960"/>
          </a:xfrm>
          <a:custGeom>
            <a:avLst/>
            <a:gdLst>
              <a:gd name="textAreaLeft" fmla="*/ 0 w 1218960"/>
              <a:gd name="textAreaRight" fmla="*/ 1219320 w 1218960"/>
              <a:gd name="textAreaTop" fmla="*/ 0 h 75960"/>
              <a:gd name="textAreaBottom" fmla="*/ 76320 h 75960"/>
            </a:gdLst>
            <a:ahLst/>
            <a:cxnLst/>
            <a:rect l="textAreaLeft" t="textAreaTop" r="textAreaRight" b="textAreaBottom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2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">
            <a:extLst>
              <a:ext uri="{FF2B5EF4-FFF2-40B4-BE49-F238E27FC236}">
                <a16:creationId xmlns:a16="http://schemas.microsoft.com/office/drawing/2014/main" id="{209C737B-4307-5E27-F664-1BBFA53BD938}"/>
              </a:ext>
            </a:extLst>
          </p:cNvPr>
          <p:cNvSpPr/>
          <p:nvPr/>
        </p:nvSpPr>
        <p:spPr>
          <a:xfrm>
            <a:off x="660240" y="2857680"/>
            <a:ext cx="546048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b="1" u="none" strike="noStrike" dirty="0">
                <a:solidFill>
                  <a:srgbClr val="4080FF"/>
                </a:solidFill>
                <a:effectLst/>
                <a:uFillTx/>
                <a:latin typeface="Noto Sans SC"/>
                <a:ea typeface="Noto Sans SC"/>
              </a:rPr>
              <a:t>🎯 </a:t>
            </a:r>
            <a:r>
              <a:rPr lang="fr-FR" altLang="zh-CN" sz="2000" dirty="0"/>
              <a:t>Dans la nouvelle version du projet :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">
            <a:extLst>
              <a:ext uri="{FF2B5EF4-FFF2-40B4-BE49-F238E27FC236}">
                <a16:creationId xmlns:a16="http://schemas.microsoft.com/office/drawing/2014/main" id="{DC6AE0AA-504B-AE47-DC60-8432A180A347}"/>
              </a:ext>
            </a:extLst>
          </p:cNvPr>
          <p:cNvSpPr/>
          <p:nvPr/>
        </p:nvSpPr>
        <p:spPr>
          <a:xfrm>
            <a:off x="660240" y="3314880"/>
            <a:ext cx="5799768" cy="132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87678F-75D5-3604-FBD3-EF50EB5D5341}"/>
              </a:ext>
            </a:extLst>
          </p:cNvPr>
          <p:cNvSpPr txBox="1"/>
          <p:nvPr/>
        </p:nvSpPr>
        <p:spPr>
          <a:xfrm>
            <a:off x="556925" y="3429000"/>
            <a:ext cx="60970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dirty="0"/>
              <a:t>Le nombre de pas est maintenant affiché en haut à gauche à chaque déplacement du joueur.</a:t>
            </a:r>
          </a:p>
          <a:p>
            <a:r>
              <a:rPr lang="fr-FR" altLang="zh-CN" dirty="0"/>
              <a:t>Un système de téléportation a été ajouté, permettant de nouvelles stratégies de déplacement et des niveaux plus dynamiques.</a:t>
            </a:r>
          </a:p>
        </p:txBody>
      </p:sp>
    </p:spTree>
    <p:extLst>
      <p:ext uri="{BB962C8B-B14F-4D97-AF65-F5344CB8AC3E}">
        <p14:creationId xmlns:p14="http://schemas.microsoft.com/office/powerpoint/2010/main" val="16849274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E632DC-D00B-65EB-519B-E0E7B99BC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>
            <a:extLst>
              <a:ext uri="{FF2B5EF4-FFF2-40B4-BE49-F238E27FC236}">
                <a16:creationId xmlns:a16="http://schemas.microsoft.com/office/drawing/2014/main" id="{F1A50B92-21ED-F353-26EB-BC72A1B45736}"/>
              </a:ext>
            </a:extLst>
          </p:cNvPr>
          <p:cNvSpPr/>
          <p:nvPr/>
        </p:nvSpPr>
        <p:spPr>
          <a:xfrm>
            <a:off x="660240" y="1866960"/>
            <a:ext cx="1130256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3600" dirty="0" err="1"/>
              <a:t>intéressants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">
            <a:extLst>
              <a:ext uri="{FF2B5EF4-FFF2-40B4-BE49-F238E27FC236}">
                <a16:creationId xmlns:a16="http://schemas.microsoft.com/office/drawing/2014/main" id="{F2729FE8-7FA9-7029-D6AB-8B34F8FCE614}"/>
              </a:ext>
            </a:extLst>
          </p:cNvPr>
          <p:cNvSpPr/>
          <p:nvPr/>
        </p:nvSpPr>
        <p:spPr>
          <a:xfrm>
            <a:off x="660240" y="2476440"/>
            <a:ext cx="1218960" cy="75960"/>
          </a:xfrm>
          <a:custGeom>
            <a:avLst/>
            <a:gdLst>
              <a:gd name="textAreaLeft" fmla="*/ 0 w 1218960"/>
              <a:gd name="textAreaRight" fmla="*/ 1219320 w 1218960"/>
              <a:gd name="textAreaTop" fmla="*/ 0 h 75960"/>
              <a:gd name="textAreaBottom" fmla="*/ 76320 h 75960"/>
            </a:gdLst>
            <a:ahLst/>
            <a:cxnLst/>
            <a:rect l="textAreaLeft" t="textAreaTop" r="textAreaRight" b="textAreaBottom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2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">
            <a:extLst>
              <a:ext uri="{FF2B5EF4-FFF2-40B4-BE49-F238E27FC236}">
                <a16:creationId xmlns:a16="http://schemas.microsoft.com/office/drawing/2014/main" id="{4EF70468-1076-84A6-7E22-18783CF5A875}"/>
              </a:ext>
            </a:extLst>
          </p:cNvPr>
          <p:cNvSpPr/>
          <p:nvPr/>
        </p:nvSpPr>
        <p:spPr>
          <a:xfrm>
            <a:off x="660240" y="2857680"/>
            <a:ext cx="546048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b="1" u="none" strike="noStrike" dirty="0">
                <a:solidFill>
                  <a:srgbClr val="4080FF"/>
                </a:solidFill>
                <a:effectLst/>
                <a:uFillTx/>
                <a:latin typeface="Noto Sans SC"/>
                <a:ea typeface="Noto Sans SC"/>
              </a:rPr>
              <a:t>🎯 </a:t>
            </a:r>
            <a:r>
              <a:rPr lang="fr-FR" altLang="zh-CN" sz="2000" dirty="0"/>
              <a:t>Dans la nouvelle version du projet :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">
            <a:extLst>
              <a:ext uri="{FF2B5EF4-FFF2-40B4-BE49-F238E27FC236}">
                <a16:creationId xmlns:a16="http://schemas.microsoft.com/office/drawing/2014/main" id="{769E054C-E2C7-F8F6-ABCD-5ED6857798FA}"/>
              </a:ext>
            </a:extLst>
          </p:cNvPr>
          <p:cNvSpPr/>
          <p:nvPr/>
        </p:nvSpPr>
        <p:spPr>
          <a:xfrm>
            <a:off x="660240" y="3314880"/>
            <a:ext cx="5799768" cy="132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BAAA52-83D0-A163-9B24-78F399FE0F33}"/>
              </a:ext>
            </a:extLst>
          </p:cNvPr>
          <p:cNvSpPr txBox="1"/>
          <p:nvPr/>
        </p:nvSpPr>
        <p:spPr>
          <a:xfrm>
            <a:off x="556925" y="3429000"/>
            <a:ext cx="60970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dirty="0"/>
              <a:t>La jouabilité du jeu est grandement améliorée grâce à ces nouvelles mécaniques.</a:t>
            </a:r>
          </a:p>
          <a:p>
            <a:r>
              <a:rPr lang="fr-FR" altLang="zh-CN" dirty="0"/>
              <a:t>Les niveaux peuvent désormais être complétés de plusieurs façons, ce qui enrichit l’expérience du joueur.</a:t>
            </a:r>
          </a:p>
          <a:p>
            <a:r>
              <a:rPr lang="fr-FR" altLang="zh-CN" dirty="0"/>
              <a:t>Nous avons également appris à concevoir une interface utilisateur (UI) et à intégrer des éléments visuels dans le jeu.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648469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3ED587-E895-0A14-6714-5726B7A3C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3">
            <a:extLst>
              <a:ext uri="{FF2B5EF4-FFF2-40B4-BE49-F238E27FC236}">
                <a16:creationId xmlns:a16="http://schemas.microsoft.com/office/drawing/2014/main" id="{50C99C05-D8E1-CF4D-FB77-DC68007C21C7}"/>
              </a:ext>
            </a:extLst>
          </p:cNvPr>
          <p:cNvSpPr/>
          <p:nvPr/>
        </p:nvSpPr>
        <p:spPr>
          <a:xfrm>
            <a:off x="660240" y="3314880"/>
            <a:ext cx="5799768" cy="132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图片 2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2E06507F-999E-1DC9-D0AE-EE2E85A8B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37" y="1524000"/>
            <a:ext cx="1044892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77394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Image 0" descr="https://kimi-img.moonshot.cn/pub/slides/slides_tmpl/image/25-09-04-14:55:18-d2sjflm1bb2p4onbq1b0.png"/>
          <p:cNvPicPr/>
          <p:nvPr/>
        </p:nvPicPr>
        <p:blipFill>
          <a:blip r:embed="rId3"/>
          <a:stretch/>
        </p:blipFill>
        <p:spPr>
          <a:xfrm>
            <a:off x="4558680" y="1141200"/>
            <a:ext cx="3619080" cy="391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Shape 0"/>
          <p:cNvSpPr/>
          <p:nvPr/>
        </p:nvSpPr>
        <p:spPr>
          <a:xfrm>
            <a:off x="2047320" y="5054040"/>
            <a:ext cx="8642520" cy="119916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5715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2047320" y="5054040"/>
            <a:ext cx="8642520" cy="11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"/>
          <p:cNvSpPr/>
          <p:nvPr/>
        </p:nvSpPr>
        <p:spPr>
          <a:xfrm>
            <a:off x="1920240" y="4884480"/>
            <a:ext cx="8642520" cy="1199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"/>
          <p:cNvSpPr/>
          <p:nvPr/>
        </p:nvSpPr>
        <p:spPr>
          <a:xfrm>
            <a:off x="1920240" y="4884480"/>
            <a:ext cx="8642520" cy="11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4"/>
          <p:cNvSpPr/>
          <p:nvPr/>
        </p:nvSpPr>
        <p:spPr>
          <a:xfrm>
            <a:off x="1920240" y="5045760"/>
            <a:ext cx="8643240" cy="81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5400" b="1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Objectif du téléporteur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5"/>
          <p:cNvSpPr/>
          <p:nvPr/>
        </p:nvSpPr>
        <p:spPr>
          <a:xfrm>
            <a:off x="3447360" y="304560"/>
            <a:ext cx="5639760" cy="101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600" b="1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PART  01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6"/>
          <p:cNvSpPr/>
          <p:nvPr/>
        </p:nvSpPr>
        <p:spPr>
          <a:xfrm>
            <a:off x="291240" y="607500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7"/>
          <p:cNvSpPr/>
          <p:nvPr/>
        </p:nvSpPr>
        <p:spPr>
          <a:xfrm>
            <a:off x="291240" y="630864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8"/>
          <p:cNvSpPr/>
          <p:nvPr/>
        </p:nvSpPr>
        <p:spPr>
          <a:xfrm>
            <a:off x="291240" y="654228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9"/>
          <p:cNvSpPr/>
          <p:nvPr/>
        </p:nvSpPr>
        <p:spPr>
          <a:xfrm>
            <a:off x="291600" y="202680"/>
            <a:ext cx="336960" cy="336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0"/>
          <p:cNvSpPr/>
          <p:nvPr/>
        </p:nvSpPr>
        <p:spPr>
          <a:xfrm>
            <a:off x="29160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1"/>
          <p:cNvSpPr/>
          <p:nvPr/>
        </p:nvSpPr>
        <p:spPr>
          <a:xfrm>
            <a:off x="1251720" y="202680"/>
            <a:ext cx="336960" cy="336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2"/>
          <p:cNvSpPr/>
          <p:nvPr/>
        </p:nvSpPr>
        <p:spPr>
          <a:xfrm>
            <a:off x="125172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3"/>
          <p:cNvSpPr/>
          <p:nvPr/>
        </p:nvSpPr>
        <p:spPr>
          <a:xfrm>
            <a:off x="771480" y="202680"/>
            <a:ext cx="336960" cy="336960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4"/>
          <p:cNvSpPr/>
          <p:nvPr/>
        </p:nvSpPr>
        <p:spPr>
          <a:xfrm>
            <a:off x="77148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5"/>
          <p:cNvSpPr/>
          <p:nvPr/>
        </p:nvSpPr>
        <p:spPr>
          <a:xfrm>
            <a:off x="1731600" y="202680"/>
            <a:ext cx="336960" cy="336960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6"/>
          <p:cNvSpPr/>
          <p:nvPr/>
        </p:nvSpPr>
        <p:spPr>
          <a:xfrm>
            <a:off x="173160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/>
          <p:cNvSpPr/>
          <p:nvPr/>
        </p:nvSpPr>
        <p:spPr>
          <a:xfrm>
            <a:off x="660240" y="1866960"/>
            <a:ext cx="1130256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3600" b="1" u="none" strike="noStrike">
                <a:solidFill>
                  <a:srgbClr val="00AEEF"/>
                </a:solidFill>
                <a:effectLst/>
                <a:uFillTx/>
                <a:latin typeface="Noto Sans SC"/>
                <a:ea typeface="Noto Sans SC"/>
              </a:rPr>
              <a:t>Objectif du téléporteur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"/>
          <p:cNvSpPr/>
          <p:nvPr/>
        </p:nvSpPr>
        <p:spPr>
          <a:xfrm>
            <a:off x="660240" y="2476440"/>
            <a:ext cx="1218960" cy="75960"/>
          </a:xfrm>
          <a:custGeom>
            <a:avLst/>
            <a:gdLst>
              <a:gd name="textAreaLeft" fmla="*/ 0 w 1218960"/>
              <a:gd name="textAreaRight" fmla="*/ 1219320 w 1218960"/>
              <a:gd name="textAreaTop" fmla="*/ 0 h 75960"/>
              <a:gd name="textAreaBottom" fmla="*/ 76320 h 75960"/>
            </a:gdLst>
            <a:ahLst/>
            <a:cxnLst/>
            <a:rect l="textAreaLeft" t="textAreaTop" r="textAreaRight" b="textAreaBottom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2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"/>
          <p:cNvSpPr/>
          <p:nvPr/>
        </p:nvSpPr>
        <p:spPr>
          <a:xfrm>
            <a:off x="660240" y="2857680"/>
            <a:ext cx="546048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b="1" u="none" strike="noStrike">
                <a:solidFill>
                  <a:srgbClr val="4080FF"/>
                </a:solidFill>
                <a:effectLst/>
                <a:uFillTx/>
                <a:latin typeface="Noto Sans SC"/>
                <a:ea typeface="Noto Sans SC"/>
              </a:rPr>
              <a:t>🎯 Objectif Principal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"/>
          <p:cNvSpPr/>
          <p:nvPr/>
        </p:nvSpPr>
        <p:spPr>
          <a:xfrm>
            <a:off x="660240" y="3314880"/>
            <a:ext cx="5435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Ajouter 4 système dans Sokoban </a:t>
            </a:r>
            <a:r>
              <a:rPr lang="en-US" sz="1600" b="0" u="none" strike="noStrike">
                <a:solidFill>
                  <a:srgbClr val="333333"/>
                </a:solidFill>
                <a:effectLst/>
                <a:highlight>
                  <a:srgbClr val="FFC200"/>
                </a:highlight>
                <a:uFillTx/>
                <a:latin typeface="MiSans"/>
                <a:ea typeface="MiSans"/>
              </a:rPr>
              <a:t>sans modifier </a:t>
            </a: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les mécanismes principaux du jeu (Board, Player).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6400800" y="2857680"/>
            <a:ext cx="546048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b="1" u="none" strike="noStrike">
                <a:solidFill>
                  <a:srgbClr val="4080FF"/>
                </a:solidFill>
                <a:effectLst/>
                <a:uFillTx/>
                <a:latin typeface="Noto Sans SC"/>
                <a:ea typeface="Noto Sans SC"/>
              </a:rPr>
              <a:t>💡 Idée Centrale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5"/>
          <p:cNvSpPr/>
          <p:nvPr/>
        </p:nvSpPr>
        <p:spPr>
          <a:xfrm>
            <a:off x="6400800" y="3314880"/>
            <a:ext cx="5435280" cy="60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Le Téléporteur est une </a:t>
            </a:r>
            <a:r>
              <a:rPr lang="en-US" sz="1600" b="1" u="none" strike="noStrike">
                <a:solidFill>
                  <a:srgbClr val="00AEEF"/>
                </a:solidFill>
                <a:effectLst/>
                <a:uFillTx/>
                <a:latin typeface="MiSans"/>
                <a:ea typeface="MiSans"/>
              </a:rPr>
              <a:t>tuile spéciale (Tile)</a:t>
            </a: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, non une capacité du joueur.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6"/>
          <p:cNvSpPr/>
          <p:nvPr/>
        </p:nvSpPr>
        <p:spPr>
          <a:xfrm>
            <a:off x="660240" y="4635360"/>
            <a:ext cx="360" cy="355680"/>
          </a:xfrm>
          <a:prstGeom prst="line">
            <a:avLst/>
          </a:prstGeom>
          <a:ln w="50800">
            <a:solidFill>
              <a:srgbClr val="00AE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7"/>
          <p:cNvSpPr/>
          <p:nvPr/>
        </p:nvSpPr>
        <p:spPr>
          <a:xfrm>
            <a:off x="914400" y="4635360"/>
            <a:ext cx="1093428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800" b="1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La téléportation est une règle de la case, pas une action du joueur.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Image 0" descr="https://kimi-img.moonshot.cn/pub/slides/slides_tmpl/image/25-09-04-14:55:18-d2sjflm1bb2p4onbq1b0.png"/>
          <p:cNvPicPr/>
          <p:nvPr/>
        </p:nvPicPr>
        <p:blipFill>
          <a:blip r:embed="rId3"/>
          <a:stretch/>
        </p:blipFill>
        <p:spPr>
          <a:xfrm>
            <a:off x="4558680" y="1141200"/>
            <a:ext cx="3619080" cy="391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Shape 0"/>
          <p:cNvSpPr/>
          <p:nvPr/>
        </p:nvSpPr>
        <p:spPr>
          <a:xfrm>
            <a:off x="2047320" y="5054040"/>
            <a:ext cx="8642520" cy="119916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5715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2047320" y="5054040"/>
            <a:ext cx="8642520" cy="11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"/>
          <p:cNvSpPr/>
          <p:nvPr/>
        </p:nvSpPr>
        <p:spPr>
          <a:xfrm>
            <a:off x="1920240" y="4884480"/>
            <a:ext cx="8642520" cy="1199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1920240" y="4884480"/>
            <a:ext cx="8642520" cy="11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1920240" y="5045760"/>
            <a:ext cx="8643240" cy="81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5400" b="1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MygSkTeleport &gt;&gt; bringIn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3447360" y="304560"/>
            <a:ext cx="5639760" cy="101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600" b="1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PART  02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6"/>
          <p:cNvSpPr/>
          <p:nvPr/>
        </p:nvSpPr>
        <p:spPr>
          <a:xfrm>
            <a:off x="291240" y="607500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7"/>
          <p:cNvSpPr/>
          <p:nvPr/>
        </p:nvSpPr>
        <p:spPr>
          <a:xfrm>
            <a:off x="291240" y="630864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8"/>
          <p:cNvSpPr/>
          <p:nvPr/>
        </p:nvSpPr>
        <p:spPr>
          <a:xfrm>
            <a:off x="291240" y="654228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9"/>
          <p:cNvSpPr/>
          <p:nvPr/>
        </p:nvSpPr>
        <p:spPr>
          <a:xfrm>
            <a:off x="291600" y="202680"/>
            <a:ext cx="336960" cy="336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0"/>
          <p:cNvSpPr/>
          <p:nvPr/>
        </p:nvSpPr>
        <p:spPr>
          <a:xfrm>
            <a:off x="29160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1"/>
          <p:cNvSpPr/>
          <p:nvPr/>
        </p:nvSpPr>
        <p:spPr>
          <a:xfrm>
            <a:off x="1251720" y="202680"/>
            <a:ext cx="336960" cy="336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2"/>
          <p:cNvSpPr/>
          <p:nvPr/>
        </p:nvSpPr>
        <p:spPr>
          <a:xfrm>
            <a:off x="125172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3"/>
          <p:cNvSpPr/>
          <p:nvPr/>
        </p:nvSpPr>
        <p:spPr>
          <a:xfrm>
            <a:off x="771480" y="202680"/>
            <a:ext cx="336960" cy="336960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4"/>
          <p:cNvSpPr/>
          <p:nvPr/>
        </p:nvSpPr>
        <p:spPr>
          <a:xfrm>
            <a:off x="77148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5"/>
          <p:cNvSpPr/>
          <p:nvPr/>
        </p:nvSpPr>
        <p:spPr>
          <a:xfrm>
            <a:off x="1731600" y="202680"/>
            <a:ext cx="336960" cy="336960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6"/>
          <p:cNvSpPr/>
          <p:nvPr/>
        </p:nvSpPr>
        <p:spPr>
          <a:xfrm>
            <a:off x="173160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/>
          <p:nvPr/>
        </p:nvSpPr>
        <p:spPr>
          <a:xfrm>
            <a:off x="158760" y="838080"/>
            <a:ext cx="11874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u="none" strike="noStrike">
                <a:solidFill>
                  <a:srgbClr val="00AEEF"/>
                </a:solidFill>
                <a:effectLst/>
                <a:uFillTx/>
                <a:latin typeface="Noto Sans SC"/>
                <a:ea typeface="Noto Sans SC"/>
              </a:rPr>
              <a:t>MygSkTeleport &gt;&gt; bringIn: redéfinition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203040" y="1397160"/>
            <a:ext cx="1178532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Intercepter l'arrivée d'un objet pour y injecter la logique de téléportation.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"/>
          <p:cNvSpPr/>
          <p:nvPr/>
        </p:nvSpPr>
        <p:spPr>
          <a:xfrm>
            <a:off x="2717640" y="2006640"/>
            <a:ext cx="1015560" cy="1015560"/>
          </a:xfrm>
          <a:custGeom>
            <a:avLst/>
            <a:gdLst>
              <a:gd name="textAreaLeft" fmla="*/ 0 w 1015560"/>
              <a:gd name="textAreaRight" fmla="*/ 1015920 w 1015560"/>
              <a:gd name="textAreaTop" fmla="*/ 0 h 1015560"/>
              <a:gd name="textAreaBottom" fmla="*/ 1015920 h 1015560"/>
            </a:gdLst>
            <a:ahLst/>
            <a:cxnLst/>
            <a:rect l="textAreaLeft" t="textAreaTop" r="textAreaRight" b="textAreaBottom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4080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3"/>
          <p:cNvSpPr/>
          <p:nvPr/>
        </p:nvSpPr>
        <p:spPr>
          <a:xfrm>
            <a:off x="2997360" y="2286000"/>
            <a:ext cx="456840" cy="456840"/>
          </a:xfrm>
          <a:custGeom>
            <a:avLst/>
            <a:gdLst>
              <a:gd name="textAreaLeft" fmla="*/ 0 w 456840"/>
              <a:gd name="textAreaRight" fmla="*/ 457200 w 4568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28575" y="57150"/>
                </a:moveTo>
                <a:cubicBezTo>
                  <a:pt x="17056" y="57150"/>
                  <a:pt x="6608" y="64115"/>
                  <a:pt x="2143" y="74831"/>
                </a:cubicBezTo>
                <a:cubicBezTo>
                  <a:pt x="-2322" y="85546"/>
                  <a:pt x="179" y="97780"/>
                  <a:pt x="8394" y="105906"/>
                </a:cubicBezTo>
                <a:lnTo>
                  <a:pt x="171450" y="269051"/>
                </a:lnTo>
                <a:lnTo>
                  <a:pt x="171450" y="371475"/>
                </a:lnTo>
                <a:cubicBezTo>
                  <a:pt x="171450" y="379065"/>
                  <a:pt x="174486" y="386298"/>
                  <a:pt x="179844" y="391656"/>
                </a:cubicBezTo>
                <a:lnTo>
                  <a:pt x="236994" y="448806"/>
                </a:lnTo>
                <a:cubicBezTo>
                  <a:pt x="245209" y="457021"/>
                  <a:pt x="257443" y="459432"/>
                  <a:pt x="268159" y="454968"/>
                </a:cubicBezTo>
                <a:cubicBezTo>
                  <a:pt x="278874" y="450503"/>
                  <a:pt x="285750" y="440144"/>
                  <a:pt x="285750" y="428625"/>
                </a:cubicBezTo>
                <a:lnTo>
                  <a:pt x="285750" y="269051"/>
                </a:lnTo>
                <a:lnTo>
                  <a:pt x="448806" y="105995"/>
                </a:lnTo>
                <a:cubicBezTo>
                  <a:pt x="457021" y="97780"/>
                  <a:pt x="459432" y="85546"/>
                  <a:pt x="454968" y="74831"/>
                </a:cubicBezTo>
                <a:cubicBezTo>
                  <a:pt x="450503" y="64115"/>
                  <a:pt x="440144" y="57150"/>
                  <a:pt x="428625" y="57150"/>
                </a:cubicBezTo>
                <a:lnTo>
                  <a:pt x="28575" y="57150"/>
                </a:lnTo>
                <a:close/>
              </a:path>
            </a:pathLst>
          </a:custGeom>
          <a:solidFill>
            <a:srgbClr val="4080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"/>
          <p:cNvSpPr/>
          <p:nvPr/>
        </p:nvSpPr>
        <p:spPr>
          <a:xfrm>
            <a:off x="2628720" y="3174840"/>
            <a:ext cx="119340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sz="1800" b="1" u="none" strike="noStrike">
                <a:solidFill>
                  <a:srgbClr val="4080FF"/>
                </a:solidFill>
                <a:effectLst/>
                <a:uFillTx/>
                <a:latin typeface="MiSans"/>
                <a:ea typeface="MiSans"/>
              </a:rPr>
              <a:t>1. Filtrage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5"/>
          <p:cNvSpPr/>
          <p:nvPr/>
        </p:nvSpPr>
        <p:spPr>
          <a:xfrm>
            <a:off x="844560" y="3530520"/>
            <a:ext cx="476208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Si l'objet n'est pas un joueur, on appelle le comportement parent.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6"/>
          <p:cNvSpPr/>
          <p:nvPr/>
        </p:nvSpPr>
        <p:spPr>
          <a:xfrm>
            <a:off x="5867280" y="2768760"/>
            <a:ext cx="68544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3600" b="1" u="none" strike="noStrike">
                <a:solidFill>
                  <a:srgbClr val="FFC200"/>
                </a:solidFill>
                <a:effectLst/>
                <a:uFillTx/>
                <a:latin typeface="Noto Sans SC"/>
                <a:ea typeface="Noto Sans SC"/>
              </a:rPr>
              <a:t>→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7"/>
          <p:cNvSpPr/>
          <p:nvPr/>
        </p:nvSpPr>
        <p:spPr>
          <a:xfrm>
            <a:off x="8458200" y="2006640"/>
            <a:ext cx="1015560" cy="1015560"/>
          </a:xfrm>
          <a:custGeom>
            <a:avLst/>
            <a:gdLst>
              <a:gd name="textAreaLeft" fmla="*/ 0 w 1015560"/>
              <a:gd name="textAreaRight" fmla="*/ 1015920 w 1015560"/>
              <a:gd name="textAreaTop" fmla="*/ 0 h 1015560"/>
              <a:gd name="textAreaBottom" fmla="*/ 1015920 h 1015560"/>
            </a:gdLst>
            <a:ahLst/>
            <a:cxnLst/>
            <a:rect l="textAreaLeft" t="textAreaTop" r="textAreaRight" b="textAreaBottom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00AEE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8"/>
          <p:cNvSpPr/>
          <p:nvPr/>
        </p:nvSpPr>
        <p:spPr>
          <a:xfrm>
            <a:off x="8737560" y="2286000"/>
            <a:ext cx="456840" cy="456840"/>
          </a:xfrm>
          <a:custGeom>
            <a:avLst/>
            <a:gdLst>
              <a:gd name="textAreaLeft" fmla="*/ 0 w 456840"/>
              <a:gd name="textAreaRight" fmla="*/ 457200 w 4568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355848" y="10894"/>
                </a:moveTo>
                <a:lnTo>
                  <a:pt x="277088" y="89654"/>
                </a:lnTo>
                <a:lnTo>
                  <a:pt x="367546" y="180112"/>
                </a:lnTo>
                <a:lnTo>
                  <a:pt x="446306" y="101352"/>
                </a:lnTo>
                <a:cubicBezTo>
                  <a:pt x="453271" y="94298"/>
                  <a:pt x="457200" y="84832"/>
                  <a:pt x="457200" y="75009"/>
                </a:cubicBezTo>
                <a:cubicBezTo>
                  <a:pt x="457200" y="65187"/>
                  <a:pt x="453271" y="55721"/>
                  <a:pt x="446306" y="48667"/>
                </a:cubicBezTo>
                <a:lnTo>
                  <a:pt x="408533" y="10894"/>
                </a:lnTo>
                <a:cubicBezTo>
                  <a:pt x="401479" y="3929"/>
                  <a:pt x="392013" y="0"/>
                  <a:pt x="382191" y="0"/>
                </a:cubicBezTo>
                <a:cubicBezTo>
                  <a:pt x="372368" y="0"/>
                  <a:pt x="362903" y="3929"/>
                  <a:pt x="355848" y="10894"/>
                </a:cubicBezTo>
                <a:close/>
                <a:moveTo>
                  <a:pt x="246817" y="119926"/>
                </a:moveTo>
                <a:lnTo>
                  <a:pt x="10894" y="355848"/>
                </a:lnTo>
                <a:cubicBezTo>
                  <a:pt x="3929" y="362903"/>
                  <a:pt x="0" y="372368"/>
                  <a:pt x="0" y="382191"/>
                </a:cubicBezTo>
                <a:cubicBezTo>
                  <a:pt x="0" y="392013"/>
                  <a:pt x="3929" y="401479"/>
                  <a:pt x="10894" y="408533"/>
                </a:cubicBezTo>
                <a:lnTo>
                  <a:pt x="48667" y="446306"/>
                </a:lnTo>
                <a:cubicBezTo>
                  <a:pt x="55721" y="453271"/>
                  <a:pt x="65187" y="457200"/>
                  <a:pt x="75009" y="457200"/>
                </a:cubicBezTo>
                <a:cubicBezTo>
                  <a:pt x="84832" y="457200"/>
                  <a:pt x="94298" y="453271"/>
                  <a:pt x="101352" y="446306"/>
                </a:cubicBezTo>
                <a:lnTo>
                  <a:pt x="337274" y="210383"/>
                </a:lnTo>
                <a:lnTo>
                  <a:pt x="246817" y="119926"/>
                </a:lnTo>
                <a:close/>
              </a:path>
            </a:pathLst>
          </a:custGeom>
          <a:solidFill>
            <a:srgbClr val="00AE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9"/>
          <p:cNvSpPr/>
          <p:nvPr/>
        </p:nvSpPr>
        <p:spPr>
          <a:xfrm>
            <a:off x="8057880" y="3174840"/>
            <a:ext cx="181584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sz="1800" b="1" u="none" strike="noStrike">
                <a:solidFill>
                  <a:srgbClr val="00AEEF"/>
                </a:solidFill>
                <a:effectLst/>
                <a:uFillTx/>
                <a:latin typeface="MiSans"/>
                <a:ea typeface="MiSans"/>
              </a:rPr>
              <a:t>2. Téléportation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0"/>
          <p:cNvSpPr/>
          <p:nvPr/>
        </p:nvSpPr>
        <p:spPr>
          <a:xfrm>
            <a:off x="6585120" y="3530520"/>
            <a:ext cx="476208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Si c'est un joueur, on appelle `teleportPlayer` après validation.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1"/>
          <p:cNvSpPr/>
          <p:nvPr/>
        </p:nvSpPr>
        <p:spPr>
          <a:xfrm>
            <a:off x="254160" y="4343400"/>
            <a:ext cx="11683800" cy="1676160"/>
          </a:xfrm>
          <a:custGeom>
            <a:avLst/>
            <a:gdLst>
              <a:gd name="textAreaLeft" fmla="*/ 0 w 11683800"/>
              <a:gd name="textAreaRight" fmla="*/ 11684160 w 11683800"/>
              <a:gd name="textAreaTop" fmla="*/ 0 h 1676160"/>
              <a:gd name="textAreaBottom" fmla="*/ 1676520 h 1676160"/>
            </a:gdLst>
            <a:ahLst/>
            <a:cxnLst/>
            <a:rect l="textAreaLeft" t="textAreaTop" r="textAreaRight" b="textAreaBottom"/>
            <a:pathLst>
              <a:path w="11684000" h="1676400">
                <a:moveTo>
                  <a:pt x="101607" y="0"/>
                </a:moveTo>
                <a:lnTo>
                  <a:pt x="11582393" y="0"/>
                </a:lnTo>
                <a:cubicBezTo>
                  <a:pt x="11638509" y="0"/>
                  <a:pt x="11684000" y="45491"/>
                  <a:pt x="11684000" y="101607"/>
                </a:cubicBezTo>
                <a:lnTo>
                  <a:pt x="11684000" y="1574793"/>
                </a:lnTo>
                <a:cubicBezTo>
                  <a:pt x="11684000" y="1630909"/>
                  <a:pt x="11638509" y="1676400"/>
                  <a:pt x="11582393" y="1676400"/>
                </a:cubicBezTo>
                <a:lnTo>
                  <a:pt x="101607" y="1676400"/>
                </a:lnTo>
                <a:cubicBezTo>
                  <a:pt x="45491" y="1676400"/>
                  <a:pt x="0" y="1630909"/>
                  <a:pt x="0" y="15747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  <a:effectLst>
            <a:outerShdw blurRad="190440" dist="12708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0"/>
          <p:cNvSpPr/>
          <p:nvPr/>
        </p:nvSpPr>
        <p:spPr>
          <a:xfrm>
            <a:off x="158760" y="838080"/>
            <a:ext cx="11874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u="none" strike="noStrike">
                <a:solidFill>
                  <a:srgbClr val="00AEEF"/>
                </a:solidFill>
                <a:effectLst/>
                <a:uFillTx/>
                <a:latin typeface="Noto Sans SC"/>
                <a:ea typeface="Noto Sans SC"/>
              </a:rPr>
              <a:t>MygSkTeleport &gt;&gt; bringIn: redéfinition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"/>
          <p:cNvSpPr/>
          <p:nvPr/>
        </p:nvSpPr>
        <p:spPr>
          <a:xfrm>
            <a:off x="254160" y="1451880"/>
            <a:ext cx="11683800" cy="4567680"/>
          </a:xfrm>
          <a:custGeom>
            <a:avLst/>
            <a:gdLst>
              <a:gd name="textAreaLeft" fmla="*/ 0 w 11683800"/>
              <a:gd name="textAreaRight" fmla="*/ 11684160 w 11683800"/>
              <a:gd name="textAreaTop" fmla="*/ 0 h 4567680"/>
              <a:gd name="textAreaBottom" fmla="*/ 4568040 h 4567680"/>
            </a:gdLst>
            <a:ahLst/>
            <a:cxnLst/>
            <a:rect l="textAreaLeft" t="textAreaTop" r="textAreaRight" b="textAreaBottom"/>
            <a:pathLst>
              <a:path w="11684000" h="4567999">
                <a:moveTo>
                  <a:pt x="101607" y="0"/>
                </a:moveTo>
                <a:lnTo>
                  <a:pt x="11582393" y="0"/>
                </a:lnTo>
                <a:cubicBezTo>
                  <a:pt x="11638509" y="0"/>
                  <a:pt x="11684000" y="123957"/>
                  <a:pt x="11684000" y="276866"/>
                </a:cubicBezTo>
                <a:lnTo>
                  <a:pt x="11684000" y="4291133"/>
                </a:lnTo>
                <a:cubicBezTo>
                  <a:pt x="11684000" y="4444042"/>
                  <a:pt x="11638509" y="4567999"/>
                  <a:pt x="11582393" y="4567999"/>
                </a:cubicBezTo>
                <a:lnTo>
                  <a:pt x="101607" y="4567999"/>
                </a:lnTo>
                <a:cubicBezTo>
                  <a:pt x="45491" y="4567999"/>
                  <a:pt x="0" y="4444042"/>
                  <a:pt x="0" y="4291133"/>
                </a:cubicBezTo>
                <a:lnTo>
                  <a:pt x="0" y="276866"/>
                </a:lnTo>
                <a:cubicBezTo>
                  <a:pt x="0" y="124060"/>
                  <a:pt x="45528" y="0"/>
                  <a:pt x="101607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  <a:effectLst>
            <a:outerShdw blurRad="190440" dist="12708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"/>
          <p:cNvSpPr/>
          <p:nvPr/>
        </p:nvSpPr>
        <p:spPr>
          <a:xfrm>
            <a:off x="4977720" y="2597040"/>
            <a:ext cx="1818360" cy="17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微软雅黑"/>
                <a:ea typeface="微软雅黑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854640" y="2685960"/>
            <a:ext cx="7619760" cy="300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bringIn: aSkMovable going: aDirection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    "</a:t>
            </a:r>
            <a:r>
              <a:rPr lang="zh-CN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非玩家（箱子）进来：当普通地板处理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    (aSkMovable isPlayer) ifFalse: [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        ^ super bringIn: aSkMovable going: aDirection ].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    "</a:t>
            </a:r>
            <a:r>
              <a:rPr lang="zh-CN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先执行普通的进入逻辑（计步、推箱子等全走原来的流程）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    (super bringIn: aSkMovable going: aDirection) ifFalse: [ ^ false ].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    "</a:t>
            </a:r>
            <a:r>
              <a:rPr lang="zh-CN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普通移动成功后，再执行传送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    self teleportPlayer: aSkMovable.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    ^ true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Image 0" descr="https://kimi-img.moonshot.cn/pub/slides/slides_tmpl/image/25-09-04-14:55:18-d2sjflm1bb2p4onbq1b0.png"/>
          <p:cNvPicPr/>
          <p:nvPr/>
        </p:nvPicPr>
        <p:blipFill>
          <a:blip r:embed="rId3"/>
          <a:stretch/>
        </p:blipFill>
        <p:spPr>
          <a:xfrm>
            <a:off x="4558680" y="1141200"/>
            <a:ext cx="3619080" cy="391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Shape 0"/>
          <p:cNvSpPr/>
          <p:nvPr/>
        </p:nvSpPr>
        <p:spPr>
          <a:xfrm>
            <a:off x="2047320" y="5054040"/>
            <a:ext cx="8642520" cy="119916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5715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2047320" y="5054040"/>
            <a:ext cx="8642520" cy="11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"/>
          <p:cNvSpPr/>
          <p:nvPr/>
        </p:nvSpPr>
        <p:spPr>
          <a:xfrm>
            <a:off x="1920240" y="4884480"/>
            <a:ext cx="8642520" cy="1199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1920240" y="4884480"/>
            <a:ext cx="8642520" cy="11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1920240" y="5045760"/>
            <a:ext cx="8643240" cy="81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5400" b="1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teleportPlayer et partner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3447360" y="304560"/>
            <a:ext cx="5639760" cy="101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600" b="1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PART  03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6"/>
          <p:cNvSpPr/>
          <p:nvPr/>
        </p:nvSpPr>
        <p:spPr>
          <a:xfrm>
            <a:off x="291240" y="607500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7"/>
          <p:cNvSpPr/>
          <p:nvPr/>
        </p:nvSpPr>
        <p:spPr>
          <a:xfrm>
            <a:off x="291240" y="630864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8"/>
          <p:cNvSpPr/>
          <p:nvPr/>
        </p:nvSpPr>
        <p:spPr>
          <a:xfrm>
            <a:off x="291240" y="654228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9"/>
          <p:cNvSpPr/>
          <p:nvPr/>
        </p:nvSpPr>
        <p:spPr>
          <a:xfrm>
            <a:off x="291600" y="202680"/>
            <a:ext cx="336960" cy="336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0"/>
          <p:cNvSpPr/>
          <p:nvPr/>
        </p:nvSpPr>
        <p:spPr>
          <a:xfrm>
            <a:off x="29160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1"/>
          <p:cNvSpPr/>
          <p:nvPr/>
        </p:nvSpPr>
        <p:spPr>
          <a:xfrm>
            <a:off x="1251720" y="202680"/>
            <a:ext cx="336960" cy="336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2"/>
          <p:cNvSpPr/>
          <p:nvPr/>
        </p:nvSpPr>
        <p:spPr>
          <a:xfrm>
            <a:off x="125172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3"/>
          <p:cNvSpPr/>
          <p:nvPr/>
        </p:nvSpPr>
        <p:spPr>
          <a:xfrm>
            <a:off x="771480" y="202680"/>
            <a:ext cx="336960" cy="336960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4"/>
          <p:cNvSpPr/>
          <p:nvPr/>
        </p:nvSpPr>
        <p:spPr>
          <a:xfrm>
            <a:off x="77148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5"/>
          <p:cNvSpPr/>
          <p:nvPr/>
        </p:nvSpPr>
        <p:spPr>
          <a:xfrm>
            <a:off x="1731600" y="202680"/>
            <a:ext cx="336960" cy="336960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6"/>
          <p:cNvSpPr/>
          <p:nvPr/>
        </p:nvSpPr>
        <p:spPr>
          <a:xfrm>
            <a:off x="173160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158760" y="838080"/>
            <a:ext cx="11874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微软雅黑"/>
                <a:ea typeface="微软雅黑"/>
              </a:rPr>
              <a:t>MygSkTeleport &gt;&gt; teleportPlayer: aPlayer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"/>
          <p:cNvSpPr/>
          <p:nvPr/>
        </p:nvSpPr>
        <p:spPr>
          <a:xfrm>
            <a:off x="254160" y="1451880"/>
            <a:ext cx="11683800" cy="4567680"/>
          </a:xfrm>
          <a:custGeom>
            <a:avLst/>
            <a:gdLst>
              <a:gd name="textAreaLeft" fmla="*/ 0 w 11683800"/>
              <a:gd name="textAreaRight" fmla="*/ 11684160 w 11683800"/>
              <a:gd name="textAreaTop" fmla="*/ 0 h 4567680"/>
              <a:gd name="textAreaBottom" fmla="*/ 4568040 h 4567680"/>
            </a:gdLst>
            <a:ahLst/>
            <a:cxnLst/>
            <a:rect l="textAreaLeft" t="textAreaTop" r="textAreaRight" b="textAreaBottom"/>
            <a:pathLst>
              <a:path w="11684000" h="4567999">
                <a:moveTo>
                  <a:pt x="101607" y="0"/>
                </a:moveTo>
                <a:lnTo>
                  <a:pt x="11582393" y="0"/>
                </a:lnTo>
                <a:cubicBezTo>
                  <a:pt x="11638509" y="0"/>
                  <a:pt x="11684000" y="123957"/>
                  <a:pt x="11684000" y="276866"/>
                </a:cubicBezTo>
                <a:lnTo>
                  <a:pt x="11684000" y="4291133"/>
                </a:lnTo>
                <a:cubicBezTo>
                  <a:pt x="11684000" y="4444042"/>
                  <a:pt x="11638509" y="4567999"/>
                  <a:pt x="11582393" y="4567999"/>
                </a:cubicBezTo>
                <a:lnTo>
                  <a:pt x="101607" y="4567999"/>
                </a:lnTo>
                <a:cubicBezTo>
                  <a:pt x="45491" y="4567999"/>
                  <a:pt x="0" y="4444042"/>
                  <a:pt x="0" y="4291133"/>
                </a:cubicBezTo>
                <a:lnTo>
                  <a:pt x="0" y="276866"/>
                </a:lnTo>
                <a:cubicBezTo>
                  <a:pt x="0" y="124060"/>
                  <a:pt x="45528" y="0"/>
                  <a:pt x="101607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  <a:effectLst>
            <a:outerShdw blurRad="190440" dist="12708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"/>
          <p:cNvSpPr/>
          <p:nvPr/>
        </p:nvSpPr>
        <p:spPr>
          <a:xfrm>
            <a:off x="4977720" y="2597040"/>
            <a:ext cx="1818360" cy="17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微软雅黑"/>
                <a:ea typeface="微软雅黑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854640" y="2685960"/>
            <a:ext cx="7619760" cy="28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MygSkTeleport &gt;&gt; teleportPlayer: aPlayer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    | board prev other |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    board := self board.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    "</a:t>
            </a:r>
            <a:r>
              <a:rPr lang="zh-CN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避免无限循环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    (aPlayer teleportCooldown ifNil: [false]) ifTrue: [ ^ self ].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    aPlayer teleportCooldown: true.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    other := self partner.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    other ifNil: [ ^ self ].  "</a:t>
            </a:r>
            <a:r>
              <a:rPr lang="zh-CN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没有第二个传送门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    prev := aPlayer position.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    aPlayer basicPosition: other position.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    board updatePositionOf: aPlayer from: prev.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158760" y="1701720"/>
            <a:ext cx="11874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u="none" strike="noStrike">
                <a:solidFill>
                  <a:srgbClr val="00AEEF"/>
                </a:solidFill>
                <a:effectLst/>
                <a:uFillTx/>
                <a:latin typeface="Noto Sans SC"/>
                <a:ea typeface="Noto Sans SC"/>
              </a:rPr>
              <a:t>teleportPlayer : l'opération atomique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203040" y="2260440"/>
            <a:ext cx="1178532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Déplacer le joueur vers l'autre téléporteur et mettre à jour la board.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1257480" y="2971800"/>
            <a:ext cx="1218960" cy="1218960"/>
          </a:xfrm>
          <a:custGeom>
            <a:avLst/>
            <a:gdLst>
              <a:gd name="textAreaLeft" fmla="*/ 0 w 1218960"/>
              <a:gd name="textAreaRight" fmla="*/ 1219320 w 1218960"/>
              <a:gd name="textAreaTop" fmla="*/ 0 h 1218960"/>
              <a:gd name="textAreaBottom" fmla="*/ 1219320 h 1218960"/>
            </a:gdLst>
            <a:ahLst/>
            <a:cxnLst/>
            <a:rect l="textAreaLeft" t="textAreaTop" r="textAreaRight" b="textAreaBottom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FF5E5E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3"/>
          <p:cNvSpPr/>
          <p:nvPr/>
        </p:nvSpPr>
        <p:spPr>
          <a:xfrm>
            <a:off x="1562040" y="3276720"/>
            <a:ext cx="609120" cy="609120"/>
          </a:xfrm>
          <a:custGeom>
            <a:avLst/>
            <a:gdLst>
              <a:gd name="textAreaLeft" fmla="*/ 0 w 609120"/>
              <a:gd name="textAreaRight" fmla="*/ 609480 w 609120"/>
              <a:gd name="textAreaTop" fmla="*/ 0 h 609120"/>
              <a:gd name="textAreaBottom" fmla="*/ 609480 h 609120"/>
            </a:gdLst>
            <a:ahLst/>
            <a:cxnLst/>
            <a:rect l="textAreaLeft" t="textAreaTop" r="textAreaRight" b="textAreaBottom"/>
            <a:pathLst>
              <a:path w="609600" h="609600">
                <a:moveTo>
                  <a:pt x="304800" y="0"/>
                </a:moveTo>
                <a:cubicBezTo>
                  <a:pt x="310277" y="0"/>
                  <a:pt x="315754" y="1191"/>
                  <a:pt x="320754" y="3453"/>
                </a:cubicBezTo>
                <a:lnTo>
                  <a:pt x="545068" y="98584"/>
                </a:lnTo>
                <a:cubicBezTo>
                  <a:pt x="571262" y="109657"/>
                  <a:pt x="590788" y="135493"/>
                  <a:pt x="590669" y="166688"/>
                </a:cubicBezTo>
                <a:cubicBezTo>
                  <a:pt x="590074" y="284797"/>
                  <a:pt x="541496" y="500896"/>
                  <a:pt x="336352" y="599123"/>
                </a:cubicBezTo>
                <a:cubicBezTo>
                  <a:pt x="316468" y="608647"/>
                  <a:pt x="293370" y="608647"/>
                  <a:pt x="273487" y="599123"/>
                </a:cubicBezTo>
                <a:cubicBezTo>
                  <a:pt x="68223" y="500896"/>
                  <a:pt x="19764" y="284797"/>
                  <a:pt x="19169" y="166688"/>
                </a:cubicBezTo>
                <a:cubicBezTo>
                  <a:pt x="19050" y="135493"/>
                  <a:pt x="38576" y="109657"/>
                  <a:pt x="64770" y="98584"/>
                </a:cubicBezTo>
                <a:lnTo>
                  <a:pt x="288965" y="3453"/>
                </a:lnTo>
                <a:cubicBezTo>
                  <a:pt x="293965" y="1191"/>
                  <a:pt x="299323" y="0"/>
                  <a:pt x="304800" y="0"/>
                </a:cubicBezTo>
                <a:close/>
                <a:moveTo>
                  <a:pt x="304800" y="79534"/>
                </a:moveTo>
                <a:lnTo>
                  <a:pt x="304800" y="529709"/>
                </a:lnTo>
                <a:cubicBezTo>
                  <a:pt x="469106" y="450175"/>
                  <a:pt x="513278" y="273963"/>
                  <a:pt x="514350" y="168473"/>
                </a:cubicBezTo>
                <a:lnTo>
                  <a:pt x="304800" y="79653"/>
                </a:lnTo>
                <a:lnTo>
                  <a:pt x="304800" y="79653"/>
                </a:lnTo>
                <a:close/>
              </a:path>
            </a:pathLst>
          </a:custGeom>
          <a:solidFill>
            <a:srgbClr val="FF5E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4"/>
          <p:cNvSpPr/>
          <p:nvPr/>
        </p:nvSpPr>
        <p:spPr>
          <a:xfrm>
            <a:off x="1054080" y="4292640"/>
            <a:ext cx="162540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sz="1800" b="1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1. Anti-boucle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412920" y="4648320"/>
            <a:ext cx="290808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Vérifie un cooldown pour éviter A→B→A...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6"/>
          <p:cNvSpPr/>
          <p:nvPr/>
        </p:nvSpPr>
        <p:spPr>
          <a:xfrm>
            <a:off x="3790800" y="3835440"/>
            <a:ext cx="571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FFC200"/>
                </a:solidFill>
                <a:effectLst/>
                <a:uFillTx/>
                <a:latin typeface="Noto Sans SC"/>
                <a:ea typeface="Noto Sans SC"/>
              </a:rPr>
              <a:t>→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7"/>
          <p:cNvSpPr/>
          <p:nvPr/>
        </p:nvSpPr>
        <p:spPr>
          <a:xfrm>
            <a:off x="5486400" y="2971800"/>
            <a:ext cx="1218960" cy="1218960"/>
          </a:xfrm>
          <a:custGeom>
            <a:avLst/>
            <a:gdLst>
              <a:gd name="textAreaLeft" fmla="*/ 0 w 1218960"/>
              <a:gd name="textAreaRight" fmla="*/ 1219320 w 1218960"/>
              <a:gd name="textAreaTop" fmla="*/ 0 h 1218960"/>
              <a:gd name="textAreaBottom" fmla="*/ 1219320 h 1218960"/>
            </a:gdLst>
            <a:ahLst/>
            <a:cxnLst/>
            <a:rect l="textAreaLeft" t="textAreaTop" r="textAreaRight" b="textAreaBottom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4080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8"/>
          <p:cNvSpPr/>
          <p:nvPr/>
        </p:nvSpPr>
        <p:spPr>
          <a:xfrm>
            <a:off x="5791320" y="3276720"/>
            <a:ext cx="609120" cy="609120"/>
          </a:xfrm>
          <a:custGeom>
            <a:avLst/>
            <a:gdLst>
              <a:gd name="textAreaLeft" fmla="*/ 0 w 609120"/>
              <a:gd name="textAreaRight" fmla="*/ 609480 w 609120"/>
              <a:gd name="textAreaTop" fmla="*/ 0 h 609120"/>
              <a:gd name="textAreaBottom" fmla="*/ 609480 h 609120"/>
            </a:gdLst>
            <a:ahLst/>
            <a:cxnLst/>
            <a:rect l="textAreaLeft" t="textAreaTop" r="textAreaRight" b="textAreaBottom"/>
            <a:pathLst>
              <a:path w="609600" h="609600">
                <a:moveTo>
                  <a:pt x="495300" y="247650"/>
                </a:moveTo>
                <a:cubicBezTo>
                  <a:pt x="495300" y="302300"/>
                  <a:pt x="477560" y="352782"/>
                  <a:pt x="447675" y="393740"/>
                </a:cubicBezTo>
                <a:lnTo>
                  <a:pt x="598408" y="544592"/>
                </a:lnTo>
                <a:cubicBezTo>
                  <a:pt x="613291" y="559475"/>
                  <a:pt x="613291" y="583644"/>
                  <a:pt x="598408" y="598527"/>
                </a:cubicBezTo>
                <a:cubicBezTo>
                  <a:pt x="583525" y="613410"/>
                  <a:pt x="559356" y="613410"/>
                  <a:pt x="544473" y="598527"/>
                </a:cubicBezTo>
                <a:lnTo>
                  <a:pt x="393740" y="447675"/>
                </a:lnTo>
                <a:cubicBezTo>
                  <a:pt x="352782" y="477560"/>
                  <a:pt x="302300" y="495300"/>
                  <a:pt x="247650" y="495300"/>
                </a:cubicBezTo>
                <a:cubicBezTo>
                  <a:pt x="110847" y="495300"/>
                  <a:pt x="0" y="384453"/>
                  <a:pt x="0" y="247650"/>
                </a:cubicBezTo>
                <a:cubicBezTo>
                  <a:pt x="0" y="110847"/>
                  <a:pt x="110847" y="0"/>
                  <a:pt x="247650" y="0"/>
                </a:cubicBezTo>
                <a:cubicBezTo>
                  <a:pt x="384453" y="0"/>
                  <a:pt x="495300" y="110847"/>
                  <a:pt x="495300" y="247650"/>
                </a:cubicBezTo>
                <a:close/>
                <a:moveTo>
                  <a:pt x="342900" y="209550"/>
                </a:moveTo>
                <a:cubicBezTo>
                  <a:pt x="342900" y="156924"/>
                  <a:pt x="300276" y="114300"/>
                  <a:pt x="247650" y="114300"/>
                </a:cubicBezTo>
                <a:cubicBezTo>
                  <a:pt x="195024" y="114300"/>
                  <a:pt x="152400" y="156924"/>
                  <a:pt x="152400" y="209550"/>
                </a:cubicBezTo>
                <a:cubicBezTo>
                  <a:pt x="152400" y="267653"/>
                  <a:pt x="207764" y="342424"/>
                  <a:pt x="234077" y="374571"/>
                </a:cubicBezTo>
                <a:cubicBezTo>
                  <a:pt x="241221" y="383262"/>
                  <a:pt x="254079" y="383262"/>
                  <a:pt x="261104" y="374571"/>
                </a:cubicBezTo>
                <a:cubicBezTo>
                  <a:pt x="287417" y="342424"/>
                  <a:pt x="342781" y="267653"/>
                  <a:pt x="342781" y="209550"/>
                </a:cubicBezTo>
                <a:close/>
                <a:moveTo>
                  <a:pt x="209550" y="209550"/>
                </a:moveTo>
                <a:cubicBezTo>
                  <a:pt x="209550" y="188522"/>
                  <a:pt x="226622" y="171450"/>
                  <a:pt x="247650" y="171450"/>
                </a:cubicBezTo>
                <a:cubicBezTo>
                  <a:pt x="268678" y="171450"/>
                  <a:pt x="285750" y="188522"/>
                  <a:pt x="285750" y="209550"/>
                </a:cubicBezTo>
                <a:cubicBezTo>
                  <a:pt x="285750" y="230578"/>
                  <a:pt x="268678" y="247650"/>
                  <a:pt x="247650" y="247650"/>
                </a:cubicBezTo>
                <a:cubicBezTo>
                  <a:pt x="226622" y="247650"/>
                  <a:pt x="209550" y="230578"/>
                  <a:pt x="209550" y="209550"/>
                </a:cubicBezTo>
                <a:close/>
              </a:path>
            </a:pathLst>
          </a:custGeom>
          <a:solidFill>
            <a:srgbClr val="4080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9"/>
          <p:cNvSpPr/>
          <p:nvPr/>
        </p:nvSpPr>
        <p:spPr>
          <a:xfrm>
            <a:off x="5327280" y="4292640"/>
            <a:ext cx="153648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sz="1800" b="1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2. Recherche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0"/>
          <p:cNvSpPr/>
          <p:nvPr/>
        </p:nvSpPr>
        <p:spPr>
          <a:xfrm>
            <a:off x="4641840" y="4648320"/>
            <a:ext cx="290808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Trouve le partenaire via `self partner`.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1"/>
          <p:cNvSpPr/>
          <p:nvPr/>
        </p:nvSpPr>
        <p:spPr>
          <a:xfrm>
            <a:off x="8020080" y="3835440"/>
            <a:ext cx="571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FFC200"/>
                </a:solidFill>
                <a:effectLst/>
                <a:uFillTx/>
                <a:latin typeface="Noto Sans SC"/>
                <a:ea typeface="Noto Sans SC"/>
              </a:rPr>
              <a:t>→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2"/>
          <p:cNvSpPr/>
          <p:nvPr/>
        </p:nvSpPr>
        <p:spPr>
          <a:xfrm>
            <a:off x="9715680" y="2971800"/>
            <a:ext cx="1218960" cy="1218960"/>
          </a:xfrm>
          <a:custGeom>
            <a:avLst/>
            <a:gdLst>
              <a:gd name="textAreaLeft" fmla="*/ 0 w 1218960"/>
              <a:gd name="textAreaRight" fmla="*/ 1219320 w 1218960"/>
              <a:gd name="textAreaTop" fmla="*/ 0 h 1218960"/>
              <a:gd name="textAreaBottom" fmla="*/ 1219320 h 1218960"/>
            </a:gdLst>
            <a:ahLst/>
            <a:cxnLst/>
            <a:rect l="textAreaLeft" t="textAreaTop" r="textAreaRight" b="textAreaBottom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00AEE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3"/>
          <p:cNvSpPr/>
          <p:nvPr/>
        </p:nvSpPr>
        <p:spPr>
          <a:xfrm>
            <a:off x="10020240" y="3276720"/>
            <a:ext cx="609120" cy="609120"/>
          </a:xfrm>
          <a:custGeom>
            <a:avLst/>
            <a:gdLst>
              <a:gd name="textAreaLeft" fmla="*/ 0 w 609120"/>
              <a:gd name="textAreaRight" fmla="*/ 609480 w 609120"/>
              <a:gd name="textAreaTop" fmla="*/ 0 h 609120"/>
              <a:gd name="textAreaBottom" fmla="*/ 609480 h 609120"/>
            </a:gdLst>
            <a:ahLst/>
            <a:cxnLst/>
            <a:rect l="textAreaLeft" t="textAreaTop" r="textAreaRight" b="textAreaBottom"/>
            <a:pathLst>
              <a:path w="609600" h="609600">
                <a:moveTo>
                  <a:pt x="38100" y="76200"/>
                </a:moveTo>
                <a:cubicBezTo>
                  <a:pt x="38100" y="34144"/>
                  <a:pt x="72244" y="0"/>
                  <a:pt x="114300" y="0"/>
                </a:cubicBezTo>
                <a:cubicBezTo>
                  <a:pt x="156356" y="0"/>
                  <a:pt x="190500" y="34144"/>
                  <a:pt x="190500" y="76200"/>
                </a:cubicBezTo>
                <a:cubicBezTo>
                  <a:pt x="190500" y="118256"/>
                  <a:pt x="156356" y="152400"/>
                  <a:pt x="114300" y="152400"/>
                </a:cubicBezTo>
                <a:cubicBezTo>
                  <a:pt x="72244" y="152400"/>
                  <a:pt x="38100" y="118256"/>
                  <a:pt x="38100" y="76200"/>
                </a:cubicBezTo>
                <a:close/>
                <a:moveTo>
                  <a:pt x="0" y="266700"/>
                </a:moveTo>
                <a:cubicBezTo>
                  <a:pt x="0" y="224671"/>
                  <a:pt x="34171" y="190500"/>
                  <a:pt x="76200" y="190500"/>
                </a:cubicBezTo>
                <a:lnTo>
                  <a:pt x="152400" y="190500"/>
                </a:lnTo>
                <a:cubicBezTo>
                  <a:pt x="156210" y="190500"/>
                  <a:pt x="160020" y="190738"/>
                  <a:pt x="163711" y="191333"/>
                </a:cubicBezTo>
                <a:lnTo>
                  <a:pt x="110847" y="244197"/>
                </a:lnTo>
                <a:cubicBezTo>
                  <a:pt x="77391" y="277654"/>
                  <a:pt x="77391" y="331946"/>
                  <a:pt x="110847" y="365403"/>
                </a:cubicBezTo>
                <a:lnTo>
                  <a:pt x="177522" y="432078"/>
                </a:lnTo>
                <a:cubicBezTo>
                  <a:pt x="181570" y="436126"/>
                  <a:pt x="185857" y="439698"/>
                  <a:pt x="190500" y="442793"/>
                </a:cubicBezTo>
                <a:lnTo>
                  <a:pt x="190500" y="552450"/>
                </a:lnTo>
                <a:cubicBezTo>
                  <a:pt x="190500" y="584002"/>
                  <a:pt x="164902" y="609600"/>
                  <a:pt x="133350" y="609600"/>
                </a:cubicBezTo>
                <a:lnTo>
                  <a:pt x="95250" y="609600"/>
                </a:lnTo>
                <a:cubicBezTo>
                  <a:pt x="63698" y="609600"/>
                  <a:pt x="38100" y="584002"/>
                  <a:pt x="38100" y="552450"/>
                </a:cubicBezTo>
                <a:lnTo>
                  <a:pt x="38100" y="408861"/>
                </a:lnTo>
                <a:cubicBezTo>
                  <a:pt x="15359" y="395764"/>
                  <a:pt x="0" y="371118"/>
                  <a:pt x="0" y="342900"/>
                </a:cubicBezTo>
                <a:lnTo>
                  <a:pt x="0" y="266700"/>
                </a:lnTo>
                <a:close/>
                <a:moveTo>
                  <a:pt x="419100" y="76200"/>
                </a:moveTo>
                <a:cubicBezTo>
                  <a:pt x="419100" y="34144"/>
                  <a:pt x="453244" y="0"/>
                  <a:pt x="495300" y="0"/>
                </a:cubicBezTo>
                <a:cubicBezTo>
                  <a:pt x="537356" y="0"/>
                  <a:pt x="571500" y="34144"/>
                  <a:pt x="571500" y="76200"/>
                </a:cubicBezTo>
                <a:cubicBezTo>
                  <a:pt x="571500" y="118256"/>
                  <a:pt x="537356" y="152400"/>
                  <a:pt x="495300" y="152400"/>
                </a:cubicBezTo>
                <a:cubicBezTo>
                  <a:pt x="453244" y="152400"/>
                  <a:pt x="419100" y="118256"/>
                  <a:pt x="419100" y="76200"/>
                </a:cubicBezTo>
                <a:close/>
                <a:moveTo>
                  <a:pt x="498753" y="244197"/>
                </a:moveTo>
                <a:lnTo>
                  <a:pt x="445889" y="191333"/>
                </a:lnTo>
                <a:cubicBezTo>
                  <a:pt x="449580" y="190738"/>
                  <a:pt x="453390" y="190500"/>
                  <a:pt x="457200" y="190500"/>
                </a:cubicBezTo>
                <a:lnTo>
                  <a:pt x="533400" y="190500"/>
                </a:lnTo>
                <a:cubicBezTo>
                  <a:pt x="575429" y="190500"/>
                  <a:pt x="609600" y="224671"/>
                  <a:pt x="609600" y="266700"/>
                </a:cubicBezTo>
                <a:lnTo>
                  <a:pt x="609600" y="342900"/>
                </a:lnTo>
                <a:cubicBezTo>
                  <a:pt x="609600" y="371118"/>
                  <a:pt x="594241" y="395764"/>
                  <a:pt x="571500" y="408861"/>
                </a:cubicBezTo>
                <a:lnTo>
                  <a:pt x="571500" y="552450"/>
                </a:lnTo>
                <a:cubicBezTo>
                  <a:pt x="571500" y="584002"/>
                  <a:pt x="545902" y="609600"/>
                  <a:pt x="514350" y="609600"/>
                </a:cubicBezTo>
                <a:lnTo>
                  <a:pt x="476250" y="609600"/>
                </a:lnTo>
                <a:cubicBezTo>
                  <a:pt x="444698" y="609600"/>
                  <a:pt x="419100" y="584002"/>
                  <a:pt x="419100" y="552450"/>
                </a:cubicBezTo>
                <a:lnTo>
                  <a:pt x="419100" y="442793"/>
                </a:lnTo>
                <a:cubicBezTo>
                  <a:pt x="423743" y="439698"/>
                  <a:pt x="428030" y="436126"/>
                  <a:pt x="432078" y="432078"/>
                </a:cubicBezTo>
                <a:lnTo>
                  <a:pt x="498753" y="365403"/>
                </a:lnTo>
                <a:cubicBezTo>
                  <a:pt x="532209" y="331946"/>
                  <a:pt x="532209" y="277654"/>
                  <a:pt x="498753" y="244197"/>
                </a:cubicBezTo>
                <a:close/>
                <a:moveTo>
                  <a:pt x="360521" y="211693"/>
                </a:moveTo>
                <a:cubicBezTo>
                  <a:pt x="371237" y="207288"/>
                  <a:pt x="383500" y="209669"/>
                  <a:pt x="391716" y="217884"/>
                </a:cubicBezTo>
                <a:lnTo>
                  <a:pt x="458391" y="284559"/>
                </a:lnTo>
                <a:cubicBezTo>
                  <a:pt x="469583" y="295751"/>
                  <a:pt x="469583" y="313849"/>
                  <a:pt x="458391" y="324922"/>
                </a:cubicBezTo>
                <a:lnTo>
                  <a:pt x="391716" y="391597"/>
                </a:lnTo>
                <a:cubicBezTo>
                  <a:pt x="383500" y="399812"/>
                  <a:pt x="371237" y="402193"/>
                  <a:pt x="360521" y="397788"/>
                </a:cubicBezTo>
                <a:cubicBezTo>
                  <a:pt x="349806" y="393383"/>
                  <a:pt x="342900" y="383024"/>
                  <a:pt x="342900" y="371475"/>
                </a:cubicBezTo>
                <a:lnTo>
                  <a:pt x="342900" y="342900"/>
                </a:lnTo>
                <a:lnTo>
                  <a:pt x="266700" y="342900"/>
                </a:lnTo>
                <a:lnTo>
                  <a:pt x="266700" y="371475"/>
                </a:lnTo>
                <a:cubicBezTo>
                  <a:pt x="266700" y="383024"/>
                  <a:pt x="259794" y="393502"/>
                  <a:pt x="249079" y="397907"/>
                </a:cubicBezTo>
                <a:cubicBezTo>
                  <a:pt x="238363" y="402312"/>
                  <a:pt x="226100" y="399931"/>
                  <a:pt x="217884" y="391716"/>
                </a:cubicBezTo>
                <a:lnTo>
                  <a:pt x="151209" y="325041"/>
                </a:lnTo>
                <a:cubicBezTo>
                  <a:pt x="140018" y="313849"/>
                  <a:pt x="140018" y="295751"/>
                  <a:pt x="151209" y="284678"/>
                </a:cubicBezTo>
                <a:lnTo>
                  <a:pt x="217884" y="218003"/>
                </a:lnTo>
                <a:cubicBezTo>
                  <a:pt x="226100" y="209788"/>
                  <a:pt x="238363" y="207407"/>
                  <a:pt x="249079" y="211812"/>
                </a:cubicBezTo>
                <a:cubicBezTo>
                  <a:pt x="259794" y="216218"/>
                  <a:pt x="266700" y="226576"/>
                  <a:pt x="266700" y="238125"/>
                </a:cubicBezTo>
                <a:lnTo>
                  <a:pt x="266700" y="266700"/>
                </a:lnTo>
                <a:lnTo>
                  <a:pt x="342900" y="266700"/>
                </a:lnTo>
                <a:lnTo>
                  <a:pt x="342900" y="238125"/>
                </a:lnTo>
                <a:cubicBezTo>
                  <a:pt x="342900" y="226576"/>
                  <a:pt x="349806" y="216098"/>
                  <a:pt x="360521" y="211693"/>
                </a:cubicBezTo>
                <a:close/>
              </a:path>
            </a:pathLst>
          </a:custGeom>
          <a:solidFill>
            <a:srgbClr val="00AE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4"/>
          <p:cNvSpPr/>
          <p:nvPr/>
        </p:nvSpPr>
        <p:spPr>
          <a:xfrm>
            <a:off x="9416880" y="4292640"/>
            <a:ext cx="181584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sz="1800" b="1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3. Téléportation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5"/>
          <p:cNvSpPr/>
          <p:nvPr/>
        </p:nvSpPr>
        <p:spPr>
          <a:xfrm>
            <a:off x="8871120" y="4648320"/>
            <a:ext cx="290808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Utilise `basicPosition:` pour déplacer.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0"/>
          <p:cNvSpPr/>
          <p:nvPr/>
        </p:nvSpPr>
        <p:spPr>
          <a:xfrm>
            <a:off x="254160" y="1549440"/>
            <a:ext cx="58291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EC0B0B"/>
                </a:solidFill>
                <a:effectLst/>
                <a:uFillTx/>
                <a:latin typeface="MiSans"/>
                <a:ea typeface="MiSans"/>
              </a:rPr>
              <a:t>otherTeleport</a:t>
            </a:r>
            <a:r>
              <a:rPr lang="en-US" sz="2800" b="1" u="none" strike="noStrike">
                <a:solidFill>
                  <a:srgbClr val="EC0B0B"/>
                </a:solidFill>
                <a:effectLst/>
                <a:uFillTx/>
                <a:latin typeface="Noto Sans SC"/>
                <a:ea typeface="Noto Sans SC"/>
              </a:rPr>
              <a:t> </a:t>
            </a:r>
            <a:r>
              <a:rPr lang="en-US" sz="2800" b="1" u="none" strike="noStrike">
                <a:solidFill>
                  <a:srgbClr val="00AEEF"/>
                </a:solidFill>
                <a:effectLst/>
                <a:uFillTx/>
                <a:latin typeface="Noto Sans SC"/>
                <a:ea typeface="Noto Sans SC"/>
              </a:rPr>
              <a:t>: Trouver l'autre téléporteur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"/>
          <p:cNvSpPr/>
          <p:nvPr/>
        </p:nvSpPr>
        <p:spPr>
          <a:xfrm>
            <a:off x="254160" y="2666880"/>
            <a:ext cx="57402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La méthode `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otherTeleport</a:t>
            </a: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` parcourt toutes les tuiles du plateau pour trouver l'autre téléporteur. Cette approche simple et robuste évite les coordonnées codées en dur.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"/>
          <p:cNvSpPr/>
          <p:nvPr/>
        </p:nvSpPr>
        <p:spPr>
          <a:xfrm>
            <a:off x="254160" y="3886200"/>
            <a:ext cx="5638320" cy="1422000"/>
          </a:xfrm>
          <a:custGeom>
            <a:avLst/>
            <a:gdLst>
              <a:gd name="textAreaLeft" fmla="*/ 0 w 5638320"/>
              <a:gd name="textAreaRight" fmla="*/ 5638680 w 5638320"/>
              <a:gd name="textAreaTop" fmla="*/ 0 h 1422000"/>
              <a:gd name="textAreaBottom" fmla="*/ 1422360 h 1422000"/>
            </a:gdLst>
            <a:ahLst/>
            <a:cxnLst/>
            <a:rect l="textAreaLeft" t="textAreaTop" r="textAreaRight" b="textAreaBottom"/>
            <a:pathLst>
              <a:path w="5638800" h="1422400">
                <a:moveTo>
                  <a:pt x="101602" y="0"/>
                </a:moveTo>
                <a:lnTo>
                  <a:pt x="5537198" y="0"/>
                </a:lnTo>
                <a:cubicBezTo>
                  <a:pt x="5593311" y="0"/>
                  <a:pt x="5638800" y="45489"/>
                  <a:pt x="5638800" y="101602"/>
                </a:cubicBezTo>
                <a:lnTo>
                  <a:pt x="5638800" y="1320798"/>
                </a:lnTo>
                <a:cubicBezTo>
                  <a:pt x="5638800" y="1376911"/>
                  <a:pt x="5593311" y="1422400"/>
                  <a:pt x="5537198" y="1422400"/>
                </a:cubicBezTo>
                <a:lnTo>
                  <a:pt x="101602" y="1422400"/>
                </a:lnTo>
                <a:cubicBezTo>
                  <a:pt x="45489" y="1422400"/>
                  <a:pt x="0" y="1376911"/>
                  <a:pt x="0" y="13207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  <a:effectLst>
            <a:outerShdw blurRad="190440" dist="12708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"/>
          <p:cNvSpPr/>
          <p:nvPr/>
        </p:nvSpPr>
        <p:spPr>
          <a:xfrm>
            <a:off x="457200" y="4114800"/>
            <a:ext cx="3716280" cy="96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otherTeleport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	^ self board teleports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		detect: [:t | t ~~ self ]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		ifNone: [ nil ]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Image 0" descr="https://kimi-web-img.moonshot.cn/img/gd-hbimg.huaban.com/161801de7bb9ddd54ebfbeb4ed3b480556bbc78c"/>
          <p:cNvSpPr/>
          <p:nvPr/>
        </p:nvSpPr>
        <p:spPr>
          <a:xfrm>
            <a:off x="6299280" y="888840"/>
            <a:ext cx="5638320" cy="5079600"/>
          </a:xfrm>
          <a:prstGeom prst="roundRect">
            <a:avLst>
              <a:gd name="adj" fmla="val 3000"/>
            </a:avLst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Image 0" descr="https://kimi-img.moonshot.cn/pub/slides/slides_tmpl/image/25-09-04-14:55:18-d2sjflm1bb2p4onbq1b0.png"/>
          <p:cNvPicPr/>
          <p:nvPr/>
        </p:nvPicPr>
        <p:blipFill>
          <a:blip r:embed="rId3"/>
          <a:stretch/>
        </p:blipFill>
        <p:spPr>
          <a:xfrm>
            <a:off x="4558680" y="1141200"/>
            <a:ext cx="3619080" cy="391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Shape 0"/>
          <p:cNvSpPr/>
          <p:nvPr/>
        </p:nvSpPr>
        <p:spPr>
          <a:xfrm>
            <a:off x="2047320" y="5054040"/>
            <a:ext cx="8642520" cy="119916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5715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"/>
          <p:cNvSpPr/>
          <p:nvPr/>
        </p:nvSpPr>
        <p:spPr>
          <a:xfrm>
            <a:off x="2047320" y="5054040"/>
            <a:ext cx="8642520" cy="11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"/>
          <p:cNvSpPr/>
          <p:nvPr/>
        </p:nvSpPr>
        <p:spPr>
          <a:xfrm>
            <a:off x="1920240" y="4884480"/>
            <a:ext cx="8642520" cy="1199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"/>
          <p:cNvSpPr/>
          <p:nvPr/>
        </p:nvSpPr>
        <p:spPr>
          <a:xfrm>
            <a:off x="1920240" y="4884480"/>
            <a:ext cx="8642520" cy="11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4"/>
          <p:cNvSpPr/>
          <p:nvPr/>
        </p:nvSpPr>
        <p:spPr>
          <a:xfrm>
            <a:off x="1920240" y="5045760"/>
            <a:ext cx="8643240" cy="81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5400" b="1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Polymorphisme et accès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5"/>
          <p:cNvSpPr/>
          <p:nvPr/>
        </p:nvSpPr>
        <p:spPr>
          <a:xfrm>
            <a:off x="3447360" y="304560"/>
            <a:ext cx="5639760" cy="101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600" b="1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PART  04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6"/>
          <p:cNvSpPr/>
          <p:nvPr/>
        </p:nvSpPr>
        <p:spPr>
          <a:xfrm>
            <a:off x="291240" y="607500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7"/>
          <p:cNvSpPr/>
          <p:nvPr/>
        </p:nvSpPr>
        <p:spPr>
          <a:xfrm>
            <a:off x="291240" y="630864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8"/>
          <p:cNvSpPr/>
          <p:nvPr/>
        </p:nvSpPr>
        <p:spPr>
          <a:xfrm>
            <a:off x="291240" y="654228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9"/>
          <p:cNvSpPr/>
          <p:nvPr/>
        </p:nvSpPr>
        <p:spPr>
          <a:xfrm>
            <a:off x="291600" y="202680"/>
            <a:ext cx="336960" cy="336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0"/>
          <p:cNvSpPr/>
          <p:nvPr/>
        </p:nvSpPr>
        <p:spPr>
          <a:xfrm>
            <a:off x="29160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1"/>
          <p:cNvSpPr/>
          <p:nvPr/>
        </p:nvSpPr>
        <p:spPr>
          <a:xfrm>
            <a:off x="1251720" y="202680"/>
            <a:ext cx="336960" cy="336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2"/>
          <p:cNvSpPr/>
          <p:nvPr/>
        </p:nvSpPr>
        <p:spPr>
          <a:xfrm>
            <a:off x="125172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3"/>
          <p:cNvSpPr/>
          <p:nvPr/>
        </p:nvSpPr>
        <p:spPr>
          <a:xfrm>
            <a:off x="771480" y="202680"/>
            <a:ext cx="336960" cy="336960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4"/>
          <p:cNvSpPr/>
          <p:nvPr/>
        </p:nvSpPr>
        <p:spPr>
          <a:xfrm>
            <a:off x="77148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5"/>
          <p:cNvSpPr/>
          <p:nvPr/>
        </p:nvSpPr>
        <p:spPr>
          <a:xfrm>
            <a:off x="1731600" y="202680"/>
            <a:ext cx="336960" cy="336960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6"/>
          <p:cNvSpPr/>
          <p:nvPr/>
        </p:nvSpPr>
        <p:spPr>
          <a:xfrm>
            <a:off x="173160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 0"/>
          <p:cNvSpPr/>
          <p:nvPr/>
        </p:nvSpPr>
        <p:spPr>
          <a:xfrm>
            <a:off x="2296080" y="1295280"/>
            <a:ext cx="7784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00AEEF"/>
                </a:solidFill>
                <a:effectLst/>
                <a:uFillTx/>
                <a:latin typeface="Noto Sans SC"/>
                <a:ea typeface="Noto Sans SC"/>
              </a:rPr>
              <a:t>Le Polymorphisme en action : `isTeleport`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"/>
          <p:cNvSpPr/>
          <p:nvPr/>
        </p:nvSpPr>
        <p:spPr>
          <a:xfrm>
            <a:off x="1843560" y="1854360"/>
            <a:ext cx="850860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Une simple redéfinition permet de distinguer les tuiles spéciales sans tester le type de classe.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2"/>
          <p:cNvSpPr/>
          <p:nvPr/>
        </p:nvSpPr>
        <p:spPr>
          <a:xfrm>
            <a:off x="1051920" y="2565360"/>
            <a:ext cx="4622400" cy="2945880"/>
          </a:xfrm>
          <a:custGeom>
            <a:avLst/>
            <a:gdLst>
              <a:gd name="textAreaLeft" fmla="*/ 0 w 4622400"/>
              <a:gd name="textAreaRight" fmla="*/ 4622760 w 4622400"/>
              <a:gd name="textAreaTop" fmla="*/ 0 h 2945880"/>
              <a:gd name="textAreaBottom" fmla="*/ 2946240 h 2945880"/>
            </a:gdLst>
            <a:ahLst/>
            <a:cxnLst/>
            <a:rect l="textAreaLeft" t="textAreaTop" r="textAreaRight" b="textAreaBottom"/>
            <a:pathLst>
              <a:path w="4622800" h="2946400">
                <a:moveTo>
                  <a:pt x="152388" y="0"/>
                </a:moveTo>
                <a:lnTo>
                  <a:pt x="4470412" y="0"/>
                </a:lnTo>
                <a:cubicBezTo>
                  <a:pt x="4554574" y="0"/>
                  <a:pt x="4622800" y="68226"/>
                  <a:pt x="4622800" y="152388"/>
                </a:cubicBezTo>
                <a:lnTo>
                  <a:pt x="4622800" y="2794012"/>
                </a:lnTo>
                <a:cubicBezTo>
                  <a:pt x="4622800" y="2878174"/>
                  <a:pt x="4554574" y="2946400"/>
                  <a:pt x="4470412" y="2946400"/>
                </a:cubicBezTo>
                <a:lnTo>
                  <a:pt x="152388" y="2946400"/>
                </a:lnTo>
                <a:cubicBezTo>
                  <a:pt x="68226" y="2946400"/>
                  <a:pt x="0" y="2878174"/>
                  <a:pt x="0" y="2794012"/>
                </a:cubicBezTo>
                <a:lnTo>
                  <a:pt x="0" y="152388"/>
                </a:lnTo>
                <a:cubicBezTo>
                  <a:pt x="0" y="68283"/>
                  <a:pt x="68283" y="0"/>
                  <a:pt x="152388" y="0"/>
                </a:cubicBezTo>
                <a:close/>
              </a:path>
            </a:pathLst>
          </a:custGeom>
          <a:solidFill>
            <a:srgbClr val="F3F4F6">
              <a:alpha val="80000"/>
            </a:srgbClr>
          </a:solidFill>
          <a:ln w="25400">
            <a:solidFill>
              <a:srgbClr val="D1D5DC"/>
            </a:solidFill>
            <a:round/>
          </a:ln>
          <a:effectLst>
            <a:outerShdw blurRad="76320" dist="507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3"/>
          <p:cNvSpPr/>
          <p:nvPr/>
        </p:nvSpPr>
        <p:spPr>
          <a:xfrm>
            <a:off x="2054880" y="2895480"/>
            <a:ext cx="266652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 u="none" strike="noStrike">
                <a:solidFill>
                  <a:srgbClr val="4A5565"/>
                </a:solidFill>
                <a:effectLst/>
                <a:uFillTx/>
                <a:latin typeface="Noto Sans SC"/>
                <a:ea typeface="Noto Sans SC"/>
              </a:rPr>
              <a:t>MygSkBoardElement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4"/>
          <p:cNvSpPr/>
          <p:nvPr/>
        </p:nvSpPr>
        <p:spPr>
          <a:xfrm>
            <a:off x="3007800" y="3454560"/>
            <a:ext cx="761760" cy="761760"/>
          </a:xfrm>
          <a:custGeom>
            <a:avLst/>
            <a:gdLst>
              <a:gd name="textAreaLeft" fmla="*/ 0 w 761760"/>
              <a:gd name="textAreaRight" fmla="*/ 762120 w 761760"/>
              <a:gd name="textAreaTop" fmla="*/ 0 h 761760"/>
              <a:gd name="textAreaBottom" fmla="*/ 762120 h 761760"/>
            </a:gdLst>
            <a:ahLst/>
            <a:cxnLst/>
            <a:rect l="textAreaLeft" t="textAreaTop" r="textAreaRight" b="textAreaBottom"/>
            <a:pathLst>
              <a:path w="762000" h="762000">
                <a:moveTo>
                  <a:pt x="333821" y="-3721"/>
                </a:moveTo>
                <a:cubicBezTo>
                  <a:pt x="363289" y="-20687"/>
                  <a:pt x="399604" y="-20687"/>
                  <a:pt x="429071" y="-3721"/>
                </a:cubicBezTo>
                <a:lnTo>
                  <a:pt x="690860" y="147340"/>
                </a:lnTo>
                <a:cubicBezTo>
                  <a:pt x="720328" y="164306"/>
                  <a:pt x="738485" y="195858"/>
                  <a:pt x="738485" y="229791"/>
                </a:cubicBezTo>
                <a:lnTo>
                  <a:pt x="738485" y="531912"/>
                </a:lnTo>
                <a:cubicBezTo>
                  <a:pt x="738485" y="565993"/>
                  <a:pt x="720328" y="597396"/>
                  <a:pt x="690860" y="614362"/>
                </a:cubicBezTo>
                <a:lnTo>
                  <a:pt x="429071" y="765721"/>
                </a:lnTo>
                <a:cubicBezTo>
                  <a:pt x="399604" y="782687"/>
                  <a:pt x="363289" y="782687"/>
                  <a:pt x="333821" y="765721"/>
                </a:cubicBezTo>
                <a:lnTo>
                  <a:pt x="72182" y="614660"/>
                </a:lnTo>
                <a:cubicBezTo>
                  <a:pt x="42714" y="597694"/>
                  <a:pt x="24557" y="566142"/>
                  <a:pt x="24557" y="532209"/>
                </a:cubicBezTo>
                <a:lnTo>
                  <a:pt x="24557" y="230088"/>
                </a:lnTo>
                <a:cubicBezTo>
                  <a:pt x="24557" y="196007"/>
                  <a:pt x="42714" y="164604"/>
                  <a:pt x="72182" y="147638"/>
                </a:cubicBezTo>
                <a:lnTo>
                  <a:pt x="333821" y="-3721"/>
                </a:lnTo>
                <a:close/>
                <a:moveTo>
                  <a:pt x="643086" y="532061"/>
                </a:moveTo>
                <a:lnTo>
                  <a:pt x="643086" y="284857"/>
                </a:lnTo>
                <a:lnTo>
                  <a:pt x="429071" y="408384"/>
                </a:lnTo>
                <a:lnTo>
                  <a:pt x="429071" y="655588"/>
                </a:lnTo>
                <a:lnTo>
                  <a:pt x="643086" y="532061"/>
                </a:lnTo>
                <a:close/>
              </a:path>
            </a:pathLst>
          </a:custGeom>
          <a:solidFill>
            <a:srgbClr val="99A1A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5"/>
          <p:cNvSpPr/>
          <p:nvPr/>
        </p:nvSpPr>
        <p:spPr>
          <a:xfrm>
            <a:off x="1382040" y="4419720"/>
            <a:ext cx="4012920" cy="812520"/>
          </a:xfrm>
          <a:custGeom>
            <a:avLst/>
            <a:gdLst>
              <a:gd name="textAreaLeft" fmla="*/ 0 w 4012920"/>
              <a:gd name="textAreaRight" fmla="*/ 4013280 w 4012920"/>
              <a:gd name="textAreaTop" fmla="*/ 0 h 812520"/>
              <a:gd name="textAreaBottom" fmla="*/ 812880 h 812520"/>
            </a:gdLst>
            <a:ahLst/>
            <a:cxnLst/>
            <a:rect l="textAreaLeft" t="textAreaTop" r="textAreaRight" b="textAreaBottom"/>
            <a:pathLst>
              <a:path w="4013200" h="812800">
                <a:moveTo>
                  <a:pt x="76200" y="0"/>
                </a:moveTo>
                <a:lnTo>
                  <a:pt x="3937000" y="0"/>
                </a:lnTo>
                <a:cubicBezTo>
                  <a:pt x="3979056" y="0"/>
                  <a:pt x="4013200" y="34144"/>
                  <a:pt x="4013200" y="76200"/>
                </a:cubicBezTo>
                <a:lnTo>
                  <a:pt x="4013200" y="736600"/>
                </a:lnTo>
                <a:cubicBezTo>
                  <a:pt x="4013200" y="778656"/>
                  <a:pt x="3979056" y="812800"/>
                  <a:pt x="3937000" y="812800"/>
                </a:cubicBezTo>
                <a:lnTo>
                  <a:pt x="76200" y="812800"/>
                </a:lnTo>
                <a:cubicBezTo>
                  <a:pt x="34144" y="812800"/>
                  <a:pt x="0" y="778656"/>
                  <a:pt x="0" y="736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6"/>
          <p:cNvSpPr/>
          <p:nvPr/>
        </p:nvSpPr>
        <p:spPr>
          <a:xfrm>
            <a:off x="2757240" y="4597560"/>
            <a:ext cx="1262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isTeleport ^ false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7"/>
          <p:cNvSpPr/>
          <p:nvPr/>
        </p:nvSpPr>
        <p:spPr>
          <a:xfrm>
            <a:off x="5928840" y="2565360"/>
            <a:ext cx="634680" cy="29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80000"/>
              </a:lnSpc>
            </a:pPr>
            <a:r>
              <a:rPr lang="en-US" sz="4800" b="1" u="none" strike="noStrike">
                <a:solidFill>
                  <a:srgbClr val="FFC200"/>
                </a:solidFill>
                <a:effectLst/>
                <a:uFillTx/>
                <a:latin typeface="Noto Sans SC"/>
                <a:ea typeface="Noto Sans SC"/>
              </a:rPr>
              <a:t>≠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8"/>
          <p:cNvSpPr/>
          <p:nvPr/>
        </p:nvSpPr>
        <p:spPr>
          <a:xfrm>
            <a:off x="6466320" y="2565360"/>
            <a:ext cx="4622400" cy="2945880"/>
          </a:xfrm>
          <a:custGeom>
            <a:avLst/>
            <a:gdLst>
              <a:gd name="textAreaLeft" fmla="*/ 0 w 4622400"/>
              <a:gd name="textAreaRight" fmla="*/ 4622760 w 4622400"/>
              <a:gd name="textAreaTop" fmla="*/ 0 h 2945880"/>
              <a:gd name="textAreaBottom" fmla="*/ 2946240 h 2945880"/>
            </a:gdLst>
            <a:ahLst/>
            <a:cxnLst/>
            <a:rect l="textAreaLeft" t="textAreaTop" r="textAreaRight" b="textAreaBottom"/>
            <a:pathLst>
              <a:path w="4622800" h="2946400">
                <a:moveTo>
                  <a:pt x="152388" y="0"/>
                </a:moveTo>
                <a:lnTo>
                  <a:pt x="4470412" y="0"/>
                </a:lnTo>
                <a:cubicBezTo>
                  <a:pt x="4554574" y="0"/>
                  <a:pt x="4622800" y="68226"/>
                  <a:pt x="4622800" y="152388"/>
                </a:cubicBezTo>
                <a:lnTo>
                  <a:pt x="4622800" y="2794012"/>
                </a:lnTo>
                <a:cubicBezTo>
                  <a:pt x="4622800" y="2878174"/>
                  <a:pt x="4554574" y="2946400"/>
                  <a:pt x="4470412" y="2946400"/>
                </a:cubicBezTo>
                <a:lnTo>
                  <a:pt x="152388" y="2946400"/>
                </a:lnTo>
                <a:cubicBezTo>
                  <a:pt x="68226" y="2946400"/>
                  <a:pt x="0" y="2878174"/>
                  <a:pt x="0" y="2794012"/>
                </a:cubicBezTo>
                <a:lnTo>
                  <a:pt x="0" y="152388"/>
                </a:lnTo>
                <a:cubicBezTo>
                  <a:pt x="0" y="68283"/>
                  <a:pt x="68283" y="0"/>
                  <a:pt x="152388" y="0"/>
                </a:cubicBezTo>
                <a:close/>
              </a:path>
            </a:pathLst>
          </a:custGeom>
          <a:solidFill>
            <a:srgbClr val="4080FF">
              <a:alpha val="20000"/>
            </a:srgbClr>
          </a:solidFill>
          <a:ln w="25400">
            <a:solidFill>
              <a:srgbClr val="4080FF"/>
            </a:solidFill>
            <a:round/>
          </a:ln>
          <a:effectLst>
            <a:outerShdw blurRad="190440" dist="12708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9"/>
          <p:cNvSpPr/>
          <p:nvPr/>
        </p:nvSpPr>
        <p:spPr>
          <a:xfrm>
            <a:off x="7829280" y="2895480"/>
            <a:ext cx="194292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 u="none" strike="noStrike">
                <a:solidFill>
                  <a:srgbClr val="4080FF"/>
                </a:solidFill>
                <a:effectLst/>
                <a:uFillTx/>
                <a:latin typeface="Noto Sans SC"/>
                <a:ea typeface="Noto Sans SC"/>
              </a:rPr>
              <a:t>MygSkTeleport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0"/>
          <p:cNvSpPr/>
          <p:nvPr/>
        </p:nvSpPr>
        <p:spPr>
          <a:xfrm>
            <a:off x="8422200" y="3454560"/>
            <a:ext cx="761760" cy="761760"/>
          </a:xfrm>
          <a:custGeom>
            <a:avLst/>
            <a:gdLst>
              <a:gd name="textAreaLeft" fmla="*/ 0 w 761760"/>
              <a:gd name="textAreaRight" fmla="*/ 762120 w 761760"/>
              <a:gd name="textAreaTop" fmla="*/ 0 h 761760"/>
              <a:gd name="textAreaBottom" fmla="*/ 762120 h 761760"/>
            </a:gdLst>
            <a:ahLst/>
            <a:cxnLst/>
            <a:rect l="textAreaLeft" t="textAreaTop" r="textAreaRight" b="textAreaBottom"/>
            <a:pathLst>
              <a:path w="762000" h="762000">
                <a:moveTo>
                  <a:pt x="98078" y="340072"/>
                </a:moveTo>
                <a:cubicBezTo>
                  <a:pt x="117872" y="201662"/>
                  <a:pt x="237083" y="95250"/>
                  <a:pt x="381000" y="95250"/>
                </a:cubicBezTo>
                <a:cubicBezTo>
                  <a:pt x="459879" y="95250"/>
                  <a:pt x="531316" y="127248"/>
                  <a:pt x="583109" y="178891"/>
                </a:cubicBezTo>
                <a:cubicBezTo>
                  <a:pt x="583406" y="179189"/>
                  <a:pt x="583704" y="179487"/>
                  <a:pt x="584002" y="179784"/>
                </a:cubicBezTo>
                <a:lnTo>
                  <a:pt x="595313" y="190500"/>
                </a:lnTo>
                <a:lnTo>
                  <a:pt x="524024" y="190500"/>
                </a:lnTo>
                <a:cubicBezTo>
                  <a:pt x="497681" y="190500"/>
                  <a:pt x="476399" y="211782"/>
                  <a:pt x="476399" y="238125"/>
                </a:cubicBezTo>
                <a:cubicBezTo>
                  <a:pt x="476399" y="264468"/>
                  <a:pt x="497681" y="285750"/>
                  <a:pt x="524024" y="285750"/>
                </a:cubicBezTo>
                <a:lnTo>
                  <a:pt x="714524" y="285750"/>
                </a:lnTo>
                <a:cubicBezTo>
                  <a:pt x="740866" y="285750"/>
                  <a:pt x="762149" y="264468"/>
                  <a:pt x="762149" y="238125"/>
                </a:cubicBezTo>
                <a:lnTo>
                  <a:pt x="762149" y="47625"/>
                </a:lnTo>
                <a:cubicBezTo>
                  <a:pt x="762149" y="21282"/>
                  <a:pt x="740866" y="0"/>
                  <a:pt x="714524" y="0"/>
                </a:cubicBezTo>
                <a:cubicBezTo>
                  <a:pt x="688181" y="0"/>
                  <a:pt x="666899" y="21282"/>
                  <a:pt x="666899" y="47625"/>
                </a:cubicBezTo>
                <a:lnTo>
                  <a:pt x="666899" y="127099"/>
                </a:lnTo>
                <a:lnTo>
                  <a:pt x="650081" y="111175"/>
                </a:lnTo>
                <a:cubicBezTo>
                  <a:pt x="581174" y="42565"/>
                  <a:pt x="485924" y="0"/>
                  <a:pt x="381000" y="0"/>
                </a:cubicBezTo>
                <a:cubicBezTo>
                  <a:pt x="189012" y="0"/>
                  <a:pt x="30212" y="141982"/>
                  <a:pt x="3870" y="326678"/>
                </a:cubicBezTo>
                <a:cubicBezTo>
                  <a:pt x="149" y="352723"/>
                  <a:pt x="18157" y="376833"/>
                  <a:pt x="44202" y="380554"/>
                </a:cubicBezTo>
                <a:cubicBezTo>
                  <a:pt x="70247" y="384274"/>
                  <a:pt x="94357" y="366117"/>
                  <a:pt x="98078" y="340221"/>
                </a:cubicBezTo>
                <a:close/>
                <a:moveTo>
                  <a:pt x="758130" y="435322"/>
                </a:moveTo>
                <a:cubicBezTo>
                  <a:pt x="761851" y="409277"/>
                  <a:pt x="743694" y="385167"/>
                  <a:pt x="717798" y="381446"/>
                </a:cubicBezTo>
                <a:cubicBezTo>
                  <a:pt x="691902" y="377726"/>
                  <a:pt x="667643" y="395883"/>
                  <a:pt x="663922" y="421779"/>
                </a:cubicBezTo>
                <a:cubicBezTo>
                  <a:pt x="644128" y="560189"/>
                  <a:pt x="524917" y="666601"/>
                  <a:pt x="381000" y="666601"/>
                </a:cubicBezTo>
                <a:cubicBezTo>
                  <a:pt x="302121" y="666601"/>
                  <a:pt x="230684" y="634603"/>
                  <a:pt x="178891" y="582960"/>
                </a:cubicBezTo>
                <a:cubicBezTo>
                  <a:pt x="178594" y="582662"/>
                  <a:pt x="178296" y="582364"/>
                  <a:pt x="177998" y="582067"/>
                </a:cubicBezTo>
                <a:lnTo>
                  <a:pt x="166687" y="571351"/>
                </a:lnTo>
                <a:lnTo>
                  <a:pt x="237976" y="571351"/>
                </a:lnTo>
                <a:cubicBezTo>
                  <a:pt x="264319" y="571351"/>
                  <a:pt x="285601" y="550069"/>
                  <a:pt x="285601" y="523726"/>
                </a:cubicBezTo>
                <a:cubicBezTo>
                  <a:pt x="285601" y="497384"/>
                  <a:pt x="264319" y="476101"/>
                  <a:pt x="237976" y="476101"/>
                </a:cubicBezTo>
                <a:lnTo>
                  <a:pt x="47625" y="476250"/>
                </a:lnTo>
                <a:cubicBezTo>
                  <a:pt x="34975" y="476250"/>
                  <a:pt x="22771" y="481310"/>
                  <a:pt x="13841" y="490389"/>
                </a:cubicBezTo>
                <a:cubicBezTo>
                  <a:pt x="4911" y="499467"/>
                  <a:pt x="-149" y="511522"/>
                  <a:pt x="0" y="524321"/>
                </a:cubicBezTo>
                <a:lnTo>
                  <a:pt x="1488" y="713333"/>
                </a:lnTo>
                <a:cubicBezTo>
                  <a:pt x="1637" y="739676"/>
                  <a:pt x="23217" y="760809"/>
                  <a:pt x="49560" y="760512"/>
                </a:cubicBezTo>
                <a:cubicBezTo>
                  <a:pt x="75902" y="760214"/>
                  <a:pt x="97036" y="738783"/>
                  <a:pt x="96738" y="712440"/>
                </a:cubicBezTo>
                <a:lnTo>
                  <a:pt x="96143" y="635794"/>
                </a:lnTo>
                <a:lnTo>
                  <a:pt x="112068" y="650825"/>
                </a:lnTo>
                <a:cubicBezTo>
                  <a:pt x="180975" y="719435"/>
                  <a:pt x="276076" y="762000"/>
                  <a:pt x="381000" y="762000"/>
                </a:cubicBezTo>
                <a:cubicBezTo>
                  <a:pt x="572988" y="762000"/>
                  <a:pt x="731788" y="620018"/>
                  <a:pt x="758130" y="435322"/>
                </a:cubicBezTo>
                <a:close/>
              </a:path>
            </a:pathLst>
          </a:custGeom>
          <a:solidFill>
            <a:srgbClr val="4080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1"/>
          <p:cNvSpPr/>
          <p:nvPr/>
        </p:nvSpPr>
        <p:spPr>
          <a:xfrm>
            <a:off x="6796800" y="4419720"/>
            <a:ext cx="4012920" cy="812520"/>
          </a:xfrm>
          <a:custGeom>
            <a:avLst/>
            <a:gdLst>
              <a:gd name="textAreaLeft" fmla="*/ 0 w 4012920"/>
              <a:gd name="textAreaRight" fmla="*/ 4013280 w 4012920"/>
              <a:gd name="textAreaTop" fmla="*/ 0 h 812520"/>
              <a:gd name="textAreaBottom" fmla="*/ 812880 h 812520"/>
            </a:gdLst>
            <a:ahLst/>
            <a:cxnLst/>
            <a:rect l="textAreaLeft" t="textAreaTop" r="textAreaRight" b="textAreaBottom"/>
            <a:pathLst>
              <a:path w="4013200" h="812800">
                <a:moveTo>
                  <a:pt x="76200" y="0"/>
                </a:moveTo>
                <a:lnTo>
                  <a:pt x="3937000" y="0"/>
                </a:lnTo>
                <a:cubicBezTo>
                  <a:pt x="3979056" y="0"/>
                  <a:pt x="4013200" y="34144"/>
                  <a:pt x="4013200" y="76200"/>
                </a:cubicBezTo>
                <a:lnTo>
                  <a:pt x="4013200" y="736600"/>
                </a:lnTo>
                <a:cubicBezTo>
                  <a:pt x="4013200" y="778656"/>
                  <a:pt x="3979056" y="812800"/>
                  <a:pt x="3937000" y="812800"/>
                </a:cubicBezTo>
                <a:lnTo>
                  <a:pt x="76200" y="812800"/>
                </a:lnTo>
                <a:cubicBezTo>
                  <a:pt x="34144" y="812800"/>
                  <a:pt x="0" y="778656"/>
                  <a:pt x="0" y="736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2"/>
          <p:cNvSpPr/>
          <p:nvPr/>
        </p:nvSpPr>
        <p:spPr>
          <a:xfrm>
            <a:off x="8225280" y="4597560"/>
            <a:ext cx="1155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isTeleport ^ true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Image 0" descr="https://kimi-web-img.moonshot.cn/img/forum.cuba-platform.cn/d3d56911ab75d0b4f6f89cabe1d2f532cbfd824e.png"/>
          <p:cNvSpPr/>
          <p:nvPr/>
        </p:nvSpPr>
        <p:spPr>
          <a:xfrm>
            <a:off x="254160" y="888840"/>
            <a:ext cx="5435280" cy="5079600"/>
          </a:xfrm>
          <a:prstGeom prst="roundRect">
            <a:avLst>
              <a:gd name="adj" fmla="val 3000"/>
            </a:avLst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0"/>
          <p:cNvSpPr/>
          <p:nvPr/>
        </p:nvSpPr>
        <p:spPr>
          <a:xfrm>
            <a:off x="6095880" y="1295280"/>
            <a:ext cx="60321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00AEEF"/>
                </a:solidFill>
                <a:effectLst/>
                <a:uFillTx/>
                <a:latin typeface="Noto Sans SC"/>
                <a:ea typeface="Noto Sans SC"/>
              </a:rPr>
              <a:t>partner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00AEEF"/>
                </a:solidFill>
                <a:effectLst/>
                <a:uFillTx/>
                <a:latin typeface="Noto Sans SC"/>
                <a:ea typeface="Noto Sans SC"/>
              </a:rPr>
              <a:t>   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"/>
          <p:cNvSpPr/>
          <p:nvPr/>
        </p:nvSpPr>
        <p:spPr>
          <a:xfrm>
            <a:off x="6191280" y="2666880"/>
            <a:ext cx="5841720" cy="1929960"/>
          </a:xfrm>
          <a:custGeom>
            <a:avLst/>
            <a:gdLst>
              <a:gd name="textAreaLeft" fmla="*/ 0 w 5841720"/>
              <a:gd name="textAreaRight" fmla="*/ 5842080 w 5841720"/>
              <a:gd name="textAreaTop" fmla="*/ 0 h 1929960"/>
              <a:gd name="textAreaBottom" fmla="*/ 1930320 h 1929960"/>
            </a:gdLst>
            <a:ahLst/>
            <a:cxnLst/>
            <a:rect l="textAreaLeft" t="textAreaTop" r="textAreaRight" b="textAreaBottom"/>
            <a:pathLst>
              <a:path w="5842000" h="1930400">
                <a:moveTo>
                  <a:pt x="101597" y="0"/>
                </a:moveTo>
                <a:lnTo>
                  <a:pt x="5740403" y="0"/>
                </a:lnTo>
                <a:cubicBezTo>
                  <a:pt x="5796513" y="0"/>
                  <a:pt x="5842000" y="45487"/>
                  <a:pt x="5842000" y="101597"/>
                </a:cubicBezTo>
                <a:lnTo>
                  <a:pt x="5842000" y="1828803"/>
                </a:lnTo>
                <a:cubicBezTo>
                  <a:pt x="5842000" y="1884913"/>
                  <a:pt x="5796513" y="1930400"/>
                  <a:pt x="57404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  <a:effectLst>
            <a:outerShdw blurRad="190440" dist="12708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"/>
          <p:cNvSpPr/>
          <p:nvPr/>
        </p:nvSpPr>
        <p:spPr>
          <a:xfrm>
            <a:off x="6635520" y="3024360"/>
            <a:ext cx="6170400" cy="147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partner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    ^ partner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Image 0" descr="https://kimi-img.moonshot.cn/pub/slides/slides_tmpl/image/25-09-04-14:55:18-d2sjflm1bb2p4onbq1b0.png"/>
          <p:cNvPicPr/>
          <p:nvPr/>
        </p:nvPicPr>
        <p:blipFill>
          <a:blip r:embed="rId3"/>
          <a:stretch/>
        </p:blipFill>
        <p:spPr>
          <a:xfrm>
            <a:off x="4558680" y="1141200"/>
            <a:ext cx="3619080" cy="391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Shape 0"/>
          <p:cNvSpPr/>
          <p:nvPr/>
        </p:nvSpPr>
        <p:spPr>
          <a:xfrm>
            <a:off x="2047320" y="5054040"/>
            <a:ext cx="8642520" cy="119916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5715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"/>
          <p:cNvSpPr/>
          <p:nvPr/>
        </p:nvSpPr>
        <p:spPr>
          <a:xfrm>
            <a:off x="2047320" y="5054040"/>
            <a:ext cx="8642520" cy="11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"/>
          <p:cNvSpPr/>
          <p:nvPr/>
        </p:nvSpPr>
        <p:spPr>
          <a:xfrm>
            <a:off x="1920240" y="4884480"/>
            <a:ext cx="8642520" cy="1199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"/>
          <p:cNvSpPr/>
          <p:nvPr/>
        </p:nvSpPr>
        <p:spPr>
          <a:xfrm>
            <a:off x="1920240" y="4884480"/>
            <a:ext cx="8642520" cy="11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4"/>
          <p:cNvSpPr/>
          <p:nvPr/>
        </p:nvSpPr>
        <p:spPr>
          <a:xfrm>
            <a:off x="1920240" y="5045760"/>
            <a:ext cx="8643240" cy="70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600" b="1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Cooldown et synchronisation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5"/>
          <p:cNvSpPr/>
          <p:nvPr/>
        </p:nvSpPr>
        <p:spPr>
          <a:xfrm>
            <a:off x="3447360" y="304560"/>
            <a:ext cx="5639760" cy="101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600" b="1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PART  05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6"/>
          <p:cNvSpPr/>
          <p:nvPr/>
        </p:nvSpPr>
        <p:spPr>
          <a:xfrm>
            <a:off x="291240" y="607500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7"/>
          <p:cNvSpPr/>
          <p:nvPr/>
        </p:nvSpPr>
        <p:spPr>
          <a:xfrm>
            <a:off x="291240" y="630864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8"/>
          <p:cNvSpPr/>
          <p:nvPr/>
        </p:nvSpPr>
        <p:spPr>
          <a:xfrm>
            <a:off x="291240" y="654228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9"/>
          <p:cNvSpPr/>
          <p:nvPr/>
        </p:nvSpPr>
        <p:spPr>
          <a:xfrm>
            <a:off x="291600" y="202680"/>
            <a:ext cx="336960" cy="336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0"/>
          <p:cNvSpPr/>
          <p:nvPr/>
        </p:nvSpPr>
        <p:spPr>
          <a:xfrm>
            <a:off x="29160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1"/>
          <p:cNvSpPr/>
          <p:nvPr/>
        </p:nvSpPr>
        <p:spPr>
          <a:xfrm>
            <a:off x="1251720" y="202680"/>
            <a:ext cx="336960" cy="336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2"/>
          <p:cNvSpPr/>
          <p:nvPr/>
        </p:nvSpPr>
        <p:spPr>
          <a:xfrm>
            <a:off x="125172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3"/>
          <p:cNvSpPr/>
          <p:nvPr/>
        </p:nvSpPr>
        <p:spPr>
          <a:xfrm>
            <a:off x="771480" y="202680"/>
            <a:ext cx="336960" cy="336960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4"/>
          <p:cNvSpPr/>
          <p:nvPr/>
        </p:nvSpPr>
        <p:spPr>
          <a:xfrm>
            <a:off x="77148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5"/>
          <p:cNvSpPr/>
          <p:nvPr/>
        </p:nvSpPr>
        <p:spPr>
          <a:xfrm>
            <a:off x="1731600" y="202680"/>
            <a:ext cx="336960" cy="336960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6"/>
          <p:cNvSpPr/>
          <p:nvPr/>
        </p:nvSpPr>
        <p:spPr>
          <a:xfrm>
            <a:off x="173160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0"/>
          <p:cNvSpPr/>
          <p:nvPr/>
        </p:nvSpPr>
        <p:spPr>
          <a:xfrm>
            <a:off x="158760" y="1778040"/>
            <a:ext cx="11874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u="none" strike="noStrike">
                <a:solidFill>
                  <a:srgbClr val="00AEEF"/>
                </a:solidFill>
                <a:effectLst/>
                <a:uFillTx/>
                <a:latin typeface="Noto Sans SC"/>
                <a:ea typeface="Noto Sans SC"/>
              </a:rPr>
              <a:t>Le Cooldown : un simple flag pour éviter les boucles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"/>
          <p:cNvSpPr/>
          <p:nvPr/>
        </p:nvSpPr>
        <p:spPr>
          <a:xfrm>
            <a:off x="203040" y="2336760"/>
            <a:ext cx="1178532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Un mécanisme simple pour éviter les téléportations infinies (A→B→A...).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2"/>
          <p:cNvSpPr/>
          <p:nvPr/>
        </p:nvSpPr>
        <p:spPr>
          <a:xfrm>
            <a:off x="1549440" y="3174840"/>
            <a:ext cx="1015560" cy="1015560"/>
          </a:xfrm>
          <a:custGeom>
            <a:avLst/>
            <a:gdLst>
              <a:gd name="textAreaLeft" fmla="*/ 0 w 1015560"/>
              <a:gd name="textAreaRight" fmla="*/ 1015920 w 1015560"/>
              <a:gd name="textAreaTop" fmla="*/ 0 h 1015560"/>
              <a:gd name="textAreaBottom" fmla="*/ 1015920 h 1015560"/>
            </a:gdLst>
            <a:ahLst/>
            <a:cxnLst/>
            <a:rect l="textAreaLeft" t="textAreaTop" r="textAreaRight" b="textAreaBottom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FF5E5E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3"/>
          <p:cNvSpPr/>
          <p:nvPr/>
        </p:nvSpPr>
        <p:spPr>
          <a:xfrm>
            <a:off x="1828800" y="3454560"/>
            <a:ext cx="456840" cy="456840"/>
          </a:xfrm>
          <a:custGeom>
            <a:avLst/>
            <a:gdLst>
              <a:gd name="textAreaLeft" fmla="*/ 0 w 456840"/>
              <a:gd name="textAreaRight" fmla="*/ 457200 w 4568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327898" y="368350"/>
                </a:moveTo>
                <a:lnTo>
                  <a:pt x="88850" y="129302"/>
                </a:lnTo>
                <a:cubicBezTo>
                  <a:pt x="68848" y="157341"/>
                  <a:pt x="57150" y="191631"/>
                  <a:pt x="57150" y="228600"/>
                </a:cubicBezTo>
                <a:cubicBezTo>
                  <a:pt x="57150" y="323255"/>
                  <a:pt x="133945" y="400050"/>
                  <a:pt x="228600" y="400050"/>
                </a:cubicBezTo>
                <a:cubicBezTo>
                  <a:pt x="265658" y="400050"/>
                  <a:pt x="299948" y="388352"/>
                  <a:pt x="327898" y="368350"/>
                </a:cubicBezTo>
                <a:close/>
                <a:moveTo>
                  <a:pt x="368350" y="327898"/>
                </a:moveTo>
                <a:cubicBezTo>
                  <a:pt x="388352" y="299859"/>
                  <a:pt x="400050" y="265569"/>
                  <a:pt x="400050" y="228600"/>
                </a:cubicBezTo>
                <a:cubicBezTo>
                  <a:pt x="400050" y="133945"/>
                  <a:pt x="323255" y="57150"/>
                  <a:pt x="228600" y="57150"/>
                </a:cubicBezTo>
                <a:cubicBezTo>
                  <a:pt x="191542" y="57150"/>
                  <a:pt x="157252" y="68848"/>
                  <a:pt x="129302" y="88850"/>
                </a:cubicBezTo>
                <a:lnTo>
                  <a:pt x="368350" y="327898"/>
                </a:ln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</a:path>
            </a:pathLst>
          </a:custGeom>
          <a:solidFill>
            <a:srgbClr val="FF5E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4"/>
          <p:cNvSpPr/>
          <p:nvPr/>
        </p:nvSpPr>
        <p:spPr>
          <a:xfrm>
            <a:off x="1250640" y="4343400"/>
            <a:ext cx="161244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sz="1800" b="1" u="none" strike="noStrike">
                <a:solidFill>
                  <a:srgbClr val="FF5E5E"/>
                </a:solidFill>
                <a:effectLst/>
                <a:uFillTx/>
                <a:latin typeface="MiSans"/>
                <a:ea typeface="MiSans"/>
              </a:rPr>
              <a:t>1. Vérification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5"/>
          <p:cNvSpPr/>
          <p:nvPr/>
        </p:nvSpPr>
        <p:spPr>
          <a:xfrm>
            <a:off x="614520" y="4699080"/>
            <a:ext cx="2882520" cy="25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On teste le flag `teleportCooldown`.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6"/>
          <p:cNvSpPr/>
          <p:nvPr/>
        </p:nvSpPr>
        <p:spPr>
          <a:xfrm>
            <a:off x="3848040" y="3809880"/>
            <a:ext cx="68544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3600" b="0" u="none" strike="noStrike">
                <a:solidFill>
                  <a:srgbClr val="99A1AF"/>
                </a:solidFill>
                <a:effectLst/>
                <a:uFillTx/>
                <a:latin typeface="Noto Sans SC"/>
                <a:ea typeface="Noto Sans SC"/>
              </a:rPr>
              <a:t>→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7"/>
          <p:cNvSpPr/>
          <p:nvPr/>
        </p:nvSpPr>
        <p:spPr>
          <a:xfrm>
            <a:off x="5587920" y="3048120"/>
            <a:ext cx="1015560" cy="1015560"/>
          </a:xfrm>
          <a:custGeom>
            <a:avLst/>
            <a:gdLst>
              <a:gd name="textAreaLeft" fmla="*/ 0 w 1015560"/>
              <a:gd name="textAreaRight" fmla="*/ 1015920 w 1015560"/>
              <a:gd name="textAreaTop" fmla="*/ 0 h 1015560"/>
              <a:gd name="textAreaBottom" fmla="*/ 1015920 h 1015560"/>
            </a:gdLst>
            <a:ahLst/>
            <a:cxnLst/>
            <a:rect l="textAreaLeft" t="textAreaTop" r="textAreaRight" b="textAreaBottom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FFC200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8"/>
          <p:cNvSpPr/>
          <p:nvPr/>
        </p:nvSpPr>
        <p:spPr>
          <a:xfrm>
            <a:off x="5838840" y="3327480"/>
            <a:ext cx="514080" cy="456840"/>
          </a:xfrm>
          <a:custGeom>
            <a:avLst/>
            <a:gdLst>
              <a:gd name="textAreaLeft" fmla="*/ 0 w 514080"/>
              <a:gd name="textAreaRight" fmla="*/ 514440 w 51408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514350" h="457200">
                <a:moveTo>
                  <a:pt x="171450" y="57150"/>
                </a:moveTo>
                <a:cubicBezTo>
                  <a:pt x="76795" y="57150"/>
                  <a:pt x="0" y="133945"/>
                  <a:pt x="0" y="228600"/>
                </a:cubicBezTo>
                <a:cubicBezTo>
                  <a:pt x="0" y="323255"/>
                  <a:pt x="76795" y="400050"/>
                  <a:pt x="171450" y="400050"/>
                </a:cubicBezTo>
                <a:lnTo>
                  <a:pt x="342900" y="400050"/>
                </a:lnTo>
                <a:cubicBezTo>
                  <a:pt x="437555" y="400050"/>
                  <a:pt x="514350" y="323255"/>
                  <a:pt x="514350" y="228600"/>
                </a:cubicBezTo>
                <a:cubicBezTo>
                  <a:pt x="514350" y="133945"/>
                  <a:pt x="437555" y="57150"/>
                  <a:pt x="342900" y="57150"/>
                </a:cubicBezTo>
                <a:lnTo>
                  <a:pt x="171450" y="57150"/>
                </a:lnTo>
                <a:close/>
                <a:moveTo>
                  <a:pt x="342900" y="142875"/>
                </a:moveTo>
                <a:cubicBezTo>
                  <a:pt x="390213" y="142875"/>
                  <a:pt x="428625" y="181287"/>
                  <a:pt x="428625" y="228600"/>
                </a:cubicBezTo>
                <a:cubicBezTo>
                  <a:pt x="428625" y="275913"/>
                  <a:pt x="390213" y="314325"/>
                  <a:pt x="342900" y="314325"/>
                </a:cubicBezTo>
                <a:cubicBezTo>
                  <a:pt x="295587" y="314325"/>
                  <a:pt x="257175" y="275913"/>
                  <a:pt x="257175" y="228600"/>
                </a:cubicBezTo>
                <a:cubicBezTo>
                  <a:pt x="257175" y="181287"/>
                  <a:pt x="295587" y="142875"/>
                  <a:pt x="342900" y="142875"/>
                </a:cubicBezTo>
                <a:close/>
              </a:path>
            </a:pathLst>
          </a:custGeom>
          <a:solidFill>
            <a:srgbClr val="FFC2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9"/>
          <p:cNvSpPr/>
          <p:nvPr/>
        </p:nvSpPr>
        <p:spPr>
          <a:xfrm>
            <a:off x="5359320" y="4216320"/>
            <a:ext cx="147276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sz="1800" b="1" u="none" strike="noStrike">
                <a:solidFill>
                  <a:srgbClr val="FFC200"/>
                </a:solidFill>
                <a:effectLst/>
                <a:uFillTx/>
                <a:latin typeface="MiSans"/>
                <a:ea typeface="MiSans"/>
              </a:rPr>
              <a:t>2. Activation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0"/>
          <p:cNvSpPr/>
          <p:nvPr/>
        </p:nvSpPr>
        <p:spPr>
          <a:xfrm>
            <a:off x="4641840" y="4572000"/>
            <a:ext cx="290808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Le flag est mis à `true` pour bloquer.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1"/>
          <p:cNvSpPr/>
          <p:nvPr/>
        </p:nvSpPr>
        <p:spPr>
          <a:xfrm>
            <a:off x="7886880" y="3809880"/>
            <a:ext cx="68544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3600" b="0" u="none" strike="noStrike">
                <a:solidFill>
                  <a:srgbClr val="99A1AF"/>
                </a:solidFill>
                <a:effectLst/>
                <a:uFillTx/>
                <a:latin typeface="Noto Sans SC"/>
                <a:ea typeface="Noto Sans SC"/>
              </a:rPr>
              <a:t>→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2"/>
          <p:cNvSpPr/>
          <p:nvPr/>
        </p:nvSpPr>
        <p:spPr>
          <a:xfrm>
            <a:off x="9626760" y="3048120"/>
            <a:ext cx="1015560" cy="1015560"/>
          </a:xfrm>
          <a:custGeom>
            <a:avLst/>
            <a:gdLst>
              <a:gd name="textAreaLeft" fmla="*/ 0 w 1015560"/>
              <a:gd name="textAreaRight" fmla="*/ 1015920 w 1015560"/>
              <a:gd name="textAreaTop" fmla="*/ 0 h 1015560"/>
              <a:gd name="textAreaBottom" fmla="*/ 1015920 h 1015560"/>
            </a:gdLst>
            <a:ahLst/>
            <a:cxnLst/>
            <a:rect l="textAreaLeft" t="textAreaTop" r="textAreaRight" b="textAreaBottom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4080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3"/>
          <p:cNvSpPr/>
          <p:nvPr/>
        </p:nvSpPr>
        <p:spPr>
          <a:xfrm>
            <a:off x="9877320" y="3327480"/>
            <a:ext cx="514080" cy="456840"/>
          </a:xfrm>
          <a:custGeom>
            <a:avLst/>
            <a:gdLst>
              <a:gd name="textAreaLeft" fmla="*/ 0 w 514080"/>
              <a:gd name="textAreaRight" fmla="*/ 514440 w 51408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514350" h="457200">
                <a:moveTo>
                  <a:pt x="342900" y="114300"/>
                </a:moveTo>
                <a:cubicBezTo>
                  <a:pt x="406033" y="114300"/>
                  <a:pt x="457200" y="165467"/>
                  <a:pt x="457200" y="228600"/>
                </a:cubicBezTo>
                <a:cubicBezTo>
                  <a:pt x="457200" y="291733"/>
                  <a:pt x="406033" y="342900"/>
                  <a:pt x="342900" y="342900"/>
                </a:cubicBezTo>
                <a:lnTo>
                  <a:pt x="171450" y="342900"/>
                </a:lnTo>
                <a:cubicBezTo>
                  <a:pt x="108317" y="342900"/>
                  <a:pt x="57150" y="291733"/>
                  <a:pt x="57150" y="228600"/>
                </a:cubicBezTo>
                <a:cubicBezTo>
                  <a:pt x="57150" y="165467"/>
                  <a:pt x="108317" y="114300"/>
                  <a:pt x="171450" y="114300"/>
                </a:cubicBezTo>
                <a:lnTo>
                  <a:pt x="342900" y="114300"/>
                </a:lnTo>
                <a:close/>
                <a:moveTo>
                  <a:pt x="514350" y="228600"/>
                </a:moveTo>
                <a:cubicBezTo>
                  <a:pt x="514350" y="133945"/>
                  <a:pt x="437555" y="57150"/>
                  <a:pt x="342900" y="57150"/>
                </a:cubicBezTo>
                <a:lnTo>
                  <a:pt x="171450" y="57150"/>
                </a:lnTo>
                <a:cubicBezTo>
                  <a:pt x="76795" y="57150"/>
                  <a:pt x="0" y="133945"/>
                  <a:pt x="0" y="228600"/>
                </a:cubicBezTo>
                <a:cubicBezTo>
                  <a:pt x="0" y="323255"/>
                  <a:pt x="76795" y="400050"/>
                  <a:pt x="171450" y="400050"/>
                </a:cubicBezTo>
                <a:lnTo>
                  <a:pt x="342900" y="400050"/>
                </a:lnTo>
                <a:cubicBezTo>
                  <a:pt x="437555" y="400050"/>
                  <a:pt x="514350" y="323255"/>
                  <a:pt x="514350" y="228600"/>
                </a:cubicBezTo>
                <a:close/>
                <a:moveTo>
                  <a:pt x="171450" y="300038"/>
                </a:moveTo>
                <a:cubicBezTo>
                  <a:pt x="210877" y="300038"/>
                  <a:pt x="242888" y="268027"/>
                  <a:pt x="242888" y="228600"/>
                </a:cubicBezTo>
                <a:cubicBezTo>
                  <a:pt x="242888" y="189173"/>
                  <a:pt x="210877" y="157163"/>
                  <a:pt x="171450" y="157163"/>
                </a:cubicBezTo>
                <a:cubicBezTo>
                  <a:pt x="132023" y="157163"/>
                  <a:pt x="100013" y="189173"/>
                  <a:pt x="100013" y="228600"/>
                </a:cubicBezTo>
                <a:cubicBezTo>
                  <a:pt x="100013" y="268027"/>
                  <a:pt x="132023" y="300038"/>
                  <a:pt x="171450" y="300038"/>
                </a:cubicBezTo>
                <a:close/>
              </a:path>
            </a:pathLst>
          </a:custGeom>
          <a:solidFill>
            <a:srgbClr val="4080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4"/>
          <p:cNvSpPr/>
          <p:nvPr/>
        </p:nvSpPr>
        <p:spPr>
          <a:xfrm>
            <a:off x="9137160" y="4216320"/>
            <a:ext cx="199368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sz="1800" b="1" u="none" strike="noStrike">
                <a:solidFill>
                  <a:srgbClr val="4080FF"/>
                </a:solidFill>
                <a:effectLst/>
                <a:uFillTx/>
                <a:latin typeface="MiSans"/>
                <a:ea typeface="MiSans"/>
              </a:rPr>
              <a:t>3. Réinitialisation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5"/>
          <p:cNvSpPr/>
          <p:nvPr/>
        </p:nvSpPr>
        <p:spPr>
          <a:xfrm>
            <a:off x="8680320" y="4572000"/>
            <a:ext cx="290808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Le flag est remis à `false` en fin de tour.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Image 0" descr="https://kimi-img.moonshot.cn/pub/slides/slides_tmpl/image/25-09-04-14:55:18-d2sjflm1bb2p4onbq1b0.png"/>
          <p:cNvPicPr/>
          <p:nvPr/>
        </p:nvPicPr>
        <p:blipFill>
          <a:blip r:embed="rId3"/>
          <a:stretch/>
        </p:blipFill>
        <p:spPr>
          <a:xfrm>
            <a:off x="4558680" y="1141200"/>
            <a:ext cx="3619080" cy="391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Shape 0"/>
          <p:cNvSpPr/>
          <p:nvPr/>
        </p:nvSpPr>
        <p:spPr>
          <a:xfrm>
            <a:off x="2047320" y="5054040"/>
            <a:ext cx="8642520" cy="119916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5715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"/>
          <p:cNvSpPr/>
          <p:nvPr/>
        </p:nvSpPr>
        <p:spPr>
          <a:xfrm>
            <a:off x="2047320" y="5054040"/>
            <a:ext cx="8642520" cy="11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"/>
          <p:cNvSpPr/>
          <p:nvPr/>
        </p:nvSpPr>
        <p:spPr>
          <a:xfrm>
            <a:off x="1920240" y="4884480"/>
            <a:ext cx="8642520" cy="1199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3"/>
          <p:cNvSpPr/>
          <p:nvPr/>
        </p:nvSpPr>
        <p:spPr>
          <a:xfrm>
            <a:off x="1920240" y="4884480"/>
            <a:ext cx="8642520" cy="11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4"/>
          <p:cNvSpPr/>
          <p:nvPr/>
        </p:nvSpPr>
        <p:spPr>
          <a:xfrm>
            <a:off x="1920240" y="5045760"/>
            <a:ext cx="8643240" cy="48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Déclenchement dans move et manageEvent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5"/>
          <p:cNvSpPr/>
          <p:nvPr/>
        </p:nvSpPr>
        <p:spPr>
          <a:xfrm>
            <a:off x="3447360" y="304560"/>
            <a:ext cx="5639760" cy="101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600" b="1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PART  06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6"/>
          <p:cNvSpPr/>
          <p:nvPr/>
        </p:nvSpPr>
        <p:spPr>
          <a:xfrm>
            <a:off x="291240" y="607500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7"/>
          <p:cNvSpPr/>
          <p:nvPr/>
        </p:nvSpPr>
        <p:spPr>
          <a:xfrm>
            <a:off x="291240" y="630864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8"/>
          <p:cNvSpPr/>
          <p:nvPr/>
        </p:nvSpPr>
        <p:spPr>
          <a:xfrm>
            <a:off x="291240" y="654228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9"/>
          <p:cNvSpPr/>
          <p:nvPr/>
        </p:nvSpPr>
        <p:spPr>
          <a:xfrm>
            <a:off x="291600" y="202680"/>
            <a:ext cx="336960" cy="336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0"/>
          <p:cNvSpPr/>
          <p:nvPr/>
        </p:nvSpPr>
        <p:spPr>
          <a:xfrm>
            <a:off x="29160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1"/>
          <p:cNvSpPr/>
          <p:nvPr/>
        </p:nvSpPr>
        <p:spPr>
          <a:xfrm>
            <a:off x="1251720" y="202680"/>
            <a:ext cx="336960" cy="336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2"/>
          <p:cNvSpPr/>
          <p:nvPr/>
        </p:nvSpPr>
        <p:spPr>
          <a:xfrm>
            <a:off x="125172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3"/>
          <p:cNvSpPr/>
          <p:nvPr/>
        </p:nvSpPr>
        <p:spPr>
          <a:xfrm>
            <a:off x="771480" y="202680"/>
            <a:ext cx="336960" cy="336960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4"/>
          <p:cNvSpPr/>
          <p:nvPr/>
        </p:nvSpPr>
        <p:spPr>
          <a:xfrm>
            <a:off x="77148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5"/>
          <p:cNvSpPr/>
          <p:nvPr/>
        </p:nvSpPr>
        <p:spPr>
          <a:xfrm>
            <a:off x="1731600" y="202680"/>
            <a:ext cx="336960" cy="336960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6"/>
          <p:cNvSpPr/>
          <p:nvPr/>
        </p:nvSpPr>
        <p:spPr>
          <a:xfrm>
            <a:off x="173160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 0"/>
          <p:cNvSpPr/>
          <p:nvPr/>
        </p:nvSpPr>
        <p:spPr>
          <a:xfrm>
            <a:off x="254160" y="1371600"/>
            <a:ext cx="58291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00AEEF"/>
                </a:solidFill>
                <a:effectLst/>
                <a:uFillTx/>
                <a:latin typeface="Noto Sans SC"/>
                <a:ea typeface="Noto Sans SC"/>
              </a:rPr>
              <a:t>move: aDirection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"/>
          <p:cNvSpPr/>
          <p:nvPr/>
        </p:nvSpPr>
        <p:spPr>
          <a:xfrm>
            <a:off x="254160" y="2031840"/>
            <a:ext cx="57402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La méthode `move` est totalement découplée de la logique de téléportation. Elle délègue la décision à la tuile cible via `bringIn:going:`.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2"/>
          <p:cNvSpPr/>
          <p:nvPr/>
        </p:nvSpPr>
        <p:spPr>
          <a:xfrm>
            <a:off x="254160" y="3251160"/>
            <a:ext cx="5638320" cy="1422000"/>
          </a:xfrm>
          <a:custGeom>
            <a:avLst/>
            <a:gdLst>
              <a:gd name="textAreaLeft" fmla="*/ 0 w 5638320"/>
              <a:gd name="textAreaRight" fmla="*/ 5638680 w 5638320"/>
              <a:gd name="textAreaTop" fmla="*/ 0 h 1422000"/>
              <a:gd name="textAreaBottom" fmla="*/ 1422360 h 1422000"/>
            </a:gdLst>
            <a:ahLst/>
            <a:cxnLst/>
            <a:rect l="textAreaLeft" t="textAreaTop" r="textAreaRight" b="textAreaBottom"/>
            <a:pathLst>
              <a:path w="5638800" h="1422400">
                <a:moveTo>
                  <a:pt x="101602" y="0"/>
                </a:moveTo>
                <a:lnTo>
                  <a:pt x="5537198" y="0"/>
                </a:lnTo>
                <a:cubicBezTo>
                  <a:pt x="5593311" y="0"/>
                  <a:pt x="5638800" y="45489"/>
                  <a:pt x="5638800" y="101602"/>
                </a:cubicBezTo>
                <a:lnTo>
                  <a:pt x="5638800" y="1320798"/>
                </a:lnTo>
                <a:cubicBezTo>
                  <a:pt x="5638800" y="1376911"/>
                  <a:pt x="5593311" y="1422400"/>
                  <a:pt x="5537198" y="1422400"/>
                </a:cubicBezTo>
                <a:lnTo>
                  <a:pt x="101602" y="1422400"/>
                </a:lnTo>
                <a:cubicBezTo>
                  <a:pt x="45489" y="1422400"/>
                  <a:pt x="0" y="1376911"/>
                  <a:pt x="0" y="13207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  <a:effectLst>
            <a:outerShdw blurRad="190440" dist="12708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3"/>
          <p:cNvSpPr/>
          <p:nvPr/>
        </p:nvSpPr>
        <p:spPr>
          <a:xfrm>
            <a:off x="429840" y="3429000"/>
            <a:ext cx="4996800" cy="96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move: aDirection | nextCell | nextCell := self board cellAt: ... . ^ nextCell bringIn: self going: aDirection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move: aDirection | nextCell | "</a:t>
            </a:r>
            <a:r>
              <a:rPr lang="zh-CN" sz="12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目标格子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" nextCell := self board cellAt: (self position moveTowards: aDirection). "</a:t>
            </a:r>
            <a:r>
              <a:rPr lang="zh-CN" sz="12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目标格子不允许进入 →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false" (nextCell bringIn: self going: aDirection) ifFalse: [ ^ false ]. "</a:t>
            </a:r>
            <a:r>
              <a:rPr lang="zh-CN" sz="12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允许 → 移动成功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" ^ true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4"/>
          <p:cNvSpPr/>
          <p:nvPr/>
        </p:nvSpPr>
        <p:spPr>
          <a:xfrm>
            <a:off x="254160" y="4876920"/>
            <a:ext cx="5740200" cy="60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Si `bringIn` retourne `true`, le mouvement est un succès. Le joueur n'a pas besoin de savoir </a:t>
            </a:r>
            <a:r>
              <a:rPr lang="en-US" sz="1600" b="1" u="none" strike="noStrike">
                <a:solidFill>
                  <a:srgbClr val="4080FF"/>
                </a:solidFill>
                <a:effectLst/>
                <a:uFillTx/>
                <a:latin typeface="MiSans"/>
                <a:ea typeface="MiSans"/>
              </a:rPr>
              <a:t>comment</a:t>
            </a: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il a été déplacé.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Image 0" descr="https://kimi-web-img.moonshot.cn/img/www.microhand.net/3e0b0c1562849397f2fdd9b3ccdd0ad9cc773a38.gif"/>
          <p:cNvSpPr/>
          <p:nvPr/>
        </p:nvSpPr>
        <p:spPr>
          <a:xfrm>
            <a:off x="6299280" y="888840"/>
            <a:ext cx="5638320" cy="5079600"/>
          </a:xfrm>
          <a:prstGeom prst="roundRect">
            <a:avLst>
              <a:gd name="adj" fmla="val 3000"/>
            </a:avLst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 0"/>
          <p:cNvSpPr/>
          <p:nvPr/>
        </p:nvSpPr>
        <p:spPr>
          <a:xfrm>
            <a:off x="158760" y="457200"/>
            <a:ext cx="11874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u="none" strike="noStrike">
                <a:solidFill>
                  <a:srgbClr val="00AEEF"/>
                </a:solidFill>
                <a:effectLst/>
                <a:uFillTx/>
                <a:latin typeface="Noto Sans SC"/>
                <a:ea typeface="Noto Sans SC"/>
              </a:rPr>
              <a:t>manageEvent : Le déclencheur final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"/>
          <p:cNvSpPr/>
          <p:nvPr/>
        </p:nvSpPr>
        <p:spPr>
          <a:xfrm>
            <a:off x="203040" y="1015920"/>
            <a:ext cx="1178532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Après un mouvement réussi, l'interface utilisateur vérifie si une téléportation est nécessaire.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2"/>
          <p:cNvSpPr/>
          <p:nvPr/>
        </p:nvSpPr>
        <p:spPr>
          <a:xfrm>
            <a:off x="254160" y="1625760"/>
            <a:ext cx="11683800" cy="4165200"/>
          </a:xfrm>
          <a:custGeom>
            <a:avLst/>
            <a:gdLst>
              <a:gd name="textAreaLeft" fmla="*/ 0 w 11683800"/>
              <a:gd name="textAreaRight" fmla="*/ 11684160 w 11683800"/>
              <a:gd name="textAreaTop" fmla="*/ 0 h 4165200"/>
              <a:gd name="textAreaBottom" fmla="*/ 4165560 h 4165200"/>
            </a:gdLst>
            <a:ahLst/>
            <a:cxnLst/>
            <a:rect l="textAreaLeft" t="textAreaTop" r="textAreaRight" b="textAreaBottom"/>
            <a:pathLst>
              <a:path w="11684000" h="4165600">
                <a:moveTo>
                  <a:pt x="101599" y="0"/>
                </a:moveTo>
                <a:lnTo>
                  <a:pt x="11582401" y="0"/>
                </a:lnTo>
                <a:cubicBezTo>
                  <a:pt x="11638513" y="0"/>
                  <a:pt x="11684000" y="45487"/>
                  <a:pt x="11684000" y="101599"/>
                </a:cubicBezTo>
                <a:lnTo>
                  <a:pt x="11684000" y="4064001"/>
                </a:lnTo>
                <a:cubicBezTo>
                  <a:pt x="11684000" y="4120113"/>
                  <a:pt x="11638513" y="4165600"/>
                  <a:pt x="11582401" y="4165600"/>
                </a:cubicBezTo>
                <a:lnTo>
                  <a:pt x="101599" y="4165600"/>
                </a:lnTo>
                <a:cubicBezTo>
                  <a:pt x="45487" y="4165600"/>
                  <a:pt x="0" y="4120113"/>
                  <a:pt x="0" y="40640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3F4F6">
              <a:alpha val="80000"/>
            </a:srgbClr>
          </a:solidFill>
          <a:ln w="0">
            <a:noFill/>
          </a:ln>
          <a:effectLst>
            <a:outerShdw blurRad="190440" dist="12708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3"/>
          <p:cNvSpPr/>
          <p:nvPr/>
        </p:nvSpPr>
        <p:spPr>
          <a:xfrm>
            <a:off x="558720" y="2209680"/>
            <a:ext cx="10015560" cy="358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manageEvent: anEvent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| player moved direction neighborElement elements |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anEvent key name = #SPACE ifTrue: [ ^ self resetBoard ].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anEvent key name = #ESCAPE ifTrue: [ ^ self space close ].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board isFinished ifTrue: [ ^ self ].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player := self board player.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direction := self directionDict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    at: anEvent key 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    ifAbsent: [ ^ self ].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elements := self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    elementsToUpdateAtPosition: player position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    goingIn: direction.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neighborElement := elements second.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moved := player move: direction.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4"/>
          <p:cNvSpPr/>
          <p:nvPr/>
        </p:nvSpPr>
        <p:spPr>
          <a:xfrm>
            <a:off x="2372400" y="6083280"/>
            <a:ext cx="228240" cy="228240"/>
          </a:xfrm>
          <a:custGeom>
            <a:avLst/>
            <a:gdLst>
              <a:gd name="textAreaLeft" fmla="*/ 0 w 228240"/>
              <a:gd name="textAreaRight" fmla="*/ 228600 w 228240"/>
              <a:gd name="textAreaTop" fmla="*/ 0 h 228240"/>
              <a:gd name="textAreaBottom" fmla="*/ 228600 h 228240"/>
            </a:gdLst>
            <a:ahLst/>
            <a:cxnLst/>
            <a:rect l="textAreaLeft" t="textAreaTop" r="textAreaRight" b="textAreaBottom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4080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5"/>
          <p:cNvSpPr/>
          <p:nvPr/>
        </p:nvSpPr>
        <p:spPr>
          <a:xfrm>
            <a:off x="2728080" y="6019920"/>
            <a:ext cx="326340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800" b="1" u="none" strike="noStrike">
                <a:solidFill>
                  <a:srgbClr val="4080FF"/>
                </a:solidFill>
                <a:effectLst/>
                <a:uFillTx/>
                <a:latin typeface="MiSans"/>
                <a:ea typeface="MiSans"/>
              </a:rPr>
              <a:t>Vérification Post-Mouvement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6"/>
          <p:cNvSpPr/>
          <p:nvPr/>
        </p:nvSpPr>
        <p:spPr>
          <a:xfrm>
            <a:off x="6081480" y="5994360"/>
            <a:ext cx="456840" cy="40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400" b="0" u="none" strike="noStrike">
                <a:solidFill>
                  <a:srgbClr val="FFC200"/>
                </a:solidFill>
                <a:effectLst/>
                <a:uFillTx/>
                <a:latin typeface="Noto Sans SC"/>
                <a:ea typeface="Noto Sans SC"/>
              </a:rPr>
              <a:t>→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7"/>
          <p:cNvSpPr/>
          <p:nvPr/>
        </p:nvSpPr>
        <p:spPr>
          <a:xfrm>
            <a:off x="6635520" y="6083280"/>
            <a:ext cx="199800" cy="228240"/>
          </a:xfrm>
          <a:custGeom>
            <a:avLst/>
            <a:gdLst>
              <a:gd name="textAreaLeft" fmla="*/ 0 w 199800"/>
              <a:gd name="textAreaRight" fmla="*/ 200160 w 199800"/>
              <a:gd name="textAreaTop" fmla="*/ 0 h 228240"/>
              <a:gd name="textAreaBottom" fmla="*/ 228600 h 228240"/>
            </a:gdLst>
            <a:ahLst/>
            <a:cxnLst/>
            <a:rect l="textAreaLeft" t="textAreaTop" r="textAreaRight" b="textAreaBottom"/>
            <a:pathLst>
              <a:path w="200025" h="228600">
                <a:moveTo>
                  <a:pt x="57150" y="17859"/>
                </a:moveTo>
                <a:cubicBezTo>
                  <a:pt x="57150" y="7992"/>
                  <a:pt x="65142" y="0"/>
                  <a:pt x="75009" y="0"/>
                </a:cubicBezTo>
                <a:cubicBezTo>
                  <a:pt x="84877" y="0"/>
                  <a:pt x="92869" y="7992"/>
                  <a:pt x="92869" y="17859"/>
                </a:cubicBezTo>
                <a:lnTo>
                  <a:pt x="92869" y="84028"/>
                </a:lnTo>
                <a:cubicBezTo>
                  <a:pt x="96664" y="80635"/>
                  <a:pt x="101664" y="78581"/>
                  <a:pt x="107156" y="78581"/>
                </a:cubicBezTo>
                <a:cubicBezTo>
                  <a:pt x="116354" y="78581"/>
                  <a:pt x="124212" y="84386"/>
                  <a:pt x="127248" y="92512"/>
                </a:cubicBezTo>
                <a:cubicBezTo>
                  <a:pt x="131177" y="88359"/>
                  <a:pt x="136714" y="85725"/>
                  <a:pt x="142875" y="85725"/>
                </a:cubicBezTo>
                <a:cubicBezTo>
                  <a:pt x="154171" y="85725"/>
                  <a:pt x="163413" y="94431"/>
                  <a:pt x="164262" y="105504"/>
                </a:cubicBezTo>
                <a:cubicBezTo>
                  <a:pt x="168057" y="102066"/>
                  <a:pt x="173102" y="100013"/>
                  <a:pt x="178594" y="100013"/>
                </a:cubicBezTo>
                <a:cubicBezTo>
                  <a:pt x="190426" y="100013"/>
                  <a:pt x="200025" y="109612"/>
                  <a:pt x="200025" y="121444"/>
                </a:cubicBezTo>
                <a:lnTo>
                  <a:pt x="200025" y="171450"/>
                </a:lnTo>
                <a:cubicBezTo>
                  <a:pt x="200025" y="203016"/>
                  <a:pt x="174441" y="228600"/>
                  <a:pt x="142875" y="228600"/>
                </a:cubicBezTo>
                <a:lnTo>
                  <a:pt x="104790" y="228600"/>
                </a:lnTo>
                <a:cubicBezTo>
                  <a:pt x="102557" y="228600"/>
                  <a:pt x="100370" y="228466"/>
                  <a:pt x="98227" y="228154"/>
                </a:cubicBezTo>
                <a:cubicBezTo>
                  <a:pt x="73536" y="225653"/>
                  <a:pt x="50810" y="212973"/>
                  <a:pt x="35719" y="192881"/>
                </a:cubicBezTo>
                <a:lnTo>
                  <a:pt x="3572" y="150019"/>
                </a:lnTo>
                <a:cubicBezTo>
                  <a:pt x="-2366" y="142116"/>
                  <a:pt x="-759" y="130954"/>
                  <a:pt x="7144" y="125016"/>
                </a:cubicBezTo>
                <a:cubicBezTo>
                  <a:pt x="15047" y="119077"/>
                  <a:pt x="26209" y="120685"/>
                  <a:pt x="32147" y="128588"/>
                </a:cubicBezTo>
                <a:lnTo>
                  <a:pt x="57150" y="161940"/>
                </a:lnTo>
                <a:lnTo>
                  <a:pt x="57150" y="17859"/>
                </a:lnTo>
                <a:close/>
                <a:moveTo>
                  <a:pt x="107156" y="135731"/>
                </a:moveTo>
                <a:cubicBezTo>
                  <a:pt x="107156" y="131802"/>
                  <a:pt x="103942" y="128588"/>
                  <a:pt x="100013" y="128588"/>
                </a:cubicBezTo>
                <a:cubicBezTo>
                  <a:pt x="96083" y="128588"/>
                  <a:pt x="92869" y="131802"/>
                  <a:pt x="92869" y="135731"/>
                </a:cubicBezTo>
                <a:lnTo>
                  <a:pt x="92869" y="178594"/>
                </a:lnTo>
                <a:cubicBezTo>
                  <a:pt x="92869" y="182523"/>
                  <a:pt x="96083" y="185738"/>
                  <a:pt x="100013" y="185738"/>
                </a:cubicBezTo>
                <a:cubicBezTo>
                  <a:pt x="103942" y="185738"/>
                  <a:pt x="107156" y="182523"/>
                  <a:pt x="107156" y="178594"/>
                </a:cubicBezTo>
                <a:lnTo>
                  <a:pt x="107156" y="135731"/>
                </a:lnTo>
                <a:close/>
                <a:moveTo>
                  <a:pt x="128588" y="128588"/>
                </a:moveTo>
                <a:cubicBezTo>
                  <a:pt x="124658" y="128588"/>
                  <a:pt x="121444" y="131802"/>
                  <a:pt x="121444" y="135731"/>
                </a:cubicBezTo>
                <a:lnTo>
                  <a:pt x="121444" y="178594"/>
                </a:lnTo>
                <a:cubicBezTo>
                  <a:pt x="121444" y="182523"/>
                  <a:pt x="124658" y="185738"/>
                  <a:pt x="128588" y="185738"/>
                </a:cubicBezTo>
                <a:cubicBezTo>
                  <a:pt x="132517" y="185738"/>
                  <a:pt x="135731" y="182523"/>
                  <a:pt x="135731" y="178594"/>
                </a:cubicBezTo>
                <a:lnTo>
                  <a:pt x="135731" y="135731"/>
                </a:lnTo>
                <a:cubicBezTo>
                  <a:pt x="135731" y="131802"/>
                  <a:pt x="132517" y="128588"/>
                  <a:pt x="128588" y="128588"/>
                </a:cubicBezTo>
                <a:close/>
                <a:moveTo>
                  <a:pt x="164306" y="135731"/>
                </a:moveTo>
                <a:cubicBezTo>
                  <a:pt x="164306" y="131802"/>
                  <a:pt x="161092" y="128588"/>
                  <a:pt x="157163" y="128588"/>
                </a:cubicBezTo>
                <a:cubicBezTo>
                  <a:pt x="153233" y="128588"/>
                  <a:pt x="150019" y="131802"/>
                  <a:pt x="150019" y="135731"/>
                </a:cubicBezTo>
                <a:lnTo>
                  <a:pt x="150019" y="178594"/>
                </a:lnTo>
                <a:cubicBezTo>
                  <a:pt x="150019" y="182523"/>
                  <a:pt x="153233" y="185738"/>
                  <a:pt x="157163" y="185738"/>
                </a:cubicBezTo>
                <a:cubicBezTo>
                  <a:pt x="161092" y="185738"/>
                  <a:pt x="164306" y="182523"/>
                  <a:pt x="164306" y="178594"/>
                </a:cubicBezTo>
                <a:lnTo>
                  <a:pt x="164306" y="135731"/>
                </a:lnTo>
                <a:close/>
              </a:path>
            </a:pathLst>
          </a:custGeom>
          <a:solidFill>
            <a:srgbClr val="00AE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8"/>
          <p:cNvSpPr/>
          <p:nvPr/>
        </p:nvSpPr>
        <p:spPr>
          <a:xfrm>
            <a:off x="6976800" y="6019920"/>
            <a:ext cx="298404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800" b="1" u="none" strike="noStrike">
                <a:solidFill>
                  <a:srgbClr val="00AEEF"/>
                </a:solidFill>
                <a:effectLst/>
                <a:uFillTx/>
                <a:latin typeface="MiSans"/>
                <a:ea typeface="MiSans"/>
              </a:rPr>
              <a:t>Déclenchement de l'action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9"/>
          <p:cNvSpPr/>
          <p:nvPr/>
        </p:nvSpPr>
        <p:spPr>
          <a:xfrm>
            <a:off x="5286240" y="2125800"/>
            <a:ext cx="6746760" cy="791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微软雅黑"/>
                <a:ea typeface="微软雅黑"/>
              </a:rPr>
              <a:t>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moved ifTrue: [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    player board gameManager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        currentMoveCount: player board gameManager currentMoveCount + 1.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    self board moveCount: self board moveCount + 1.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    moveLabel text: ('Moves: ', self board moveCount asString) asRopedText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].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(moved and: [ neighborElement box class = MygSkBox 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    ifTrue: [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        | animation |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        animation := neighborElement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            boxAnimationMovingInDirection: direction.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        neighborElement addAnimation: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            (animation onFinishedDo: [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                neighborElement resetAnimation.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                self updateElements: elements ]) 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    ifFalse: [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        self updateElements: elements ].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3D62EB-389C-0D66-F485-1E55156FE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 0">
            <a:extLst>
              <a:ext uri="{FF2B5EF4-FFF2-40B4-BE49-F238E27FC236}">
                <a16:creationId xmlns:a16="http://schemas.microsoft.com/office/drawing/2014/main" id="{9FCCADEB-1F6C-FB65-FF7C-B5FDC3E6BE3F}"/>
              </a:ext>
            </a:extLst>
          </p:cNvPr>
          <p:cNvSpPr/>
          <p:nvPr/>
        </p:nvSpPr>
        <p:spPr>
          <a:xfrm>
            <a:off x="158760" y="457200"/>
            <a:ext cx="11874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u="none" strike="noStrike" dirty="0" err="1">
                <a:solidFill>
                  <a:srgbClr val="00AEEF"/>
                </a:solidFill>
                <a:effectLst/>
                <a:uFillTx/>
                <a:latin typeface="Noto Sans SC"/>
                <a:ea typeface="Noto Sans SC"/>
              </a:rPr>
              <a:t>openWithModel</a:t>
            </a:r>
            <a:r>
              <a:rPr lang="en-US" sz="3000" b="1" u="none" strike="noStrike" dirty="0">
                <a:solidFill>
                  <a:srgbClr val="00AEEF"/>
                </a:solidFill>
                <a:effectLst/>
                <a:uFillTx/>
                <a:latin typeface="Noto Sans SC"/>
                <a:ea typeface="Noto Sans SC"/>
              </a:rPr>
              <a:t>: </a:t>
            </a:r>
            <a:r>
              <a:rPr lang="en-US" sz="3000" b="1" u="none" strike="noStrike" dirty="0" err="1">
                <a:solidFill>
                  <a:srgbClr val="00AEEF"/>
                </a:solidFill>
                <a:effectLst/>
                <a:uFillTx/>
                <a:latin typeface="Noto Sans SC"/>
                <a:ea typeface="Noto Sans SC"/>
              </a:rPr>
              <a:t>aSkBoard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">
            <a:extLst>
              <a:ext uri="{FF2B5EF4-FFF2-40B4-BE49-F238E27FC236}">
                <a16:creationId xmlns:a16="http://schemas.microsoft.com/office/drawing/2014/main" id="{9907C074-7102-F226-57BD-6397100858FF}"/>
              </a:ext>
            </a:extLst>
          </p:cNvPr>
          <p:cNvSpPr/>
          <p:nvPr/>
        </p:nvSpPr>
        <p:spPr>
          <a:xfrm>
            <a:off x="203040" y="1015920"/>
            <a:ext cx="1178532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6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Faire le</a:t>
            </a:r>
            <a:r>
              <a:rPr lang="zh-CN" altLang="en-US" sz="16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</a:t>
            </a:r>
            <a:r>
              <a:rPr lang="en-US" altLang="zh-CN" sz="1600" b="0" u="none" strike="noStrike" dirty="0" err="1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ui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2">
            <a:extLst>
              <a:ext uri="{FF2B5EF4-FFF2-40B4-BE49-F238E27FC236}">
                <a16:creationId xmlns:a16="http://schemas.microsoft.com/office/drawing/2014/main" id="{88833613-3D0A-6DDF-543A-F689136694BC}"/>
              </a:ext>
            </a:extLst>
          </p:cNvPr>
          <p:cNvSpPr/>
          <p:nvPr/>
        </p:nvSpPr>
        <p:spPr>
          <a:xfrm>
            <a:off x="239580" y="1682820"/>
            <a:ext cx="11683800" cy="4165200"/>
          </a:xfrm>
          <a:custGeom>
            <a:avLst/>
            <a:gdLst>
              <a:gd name="textAreaLeft" fmla="*/ 0 w 11683800"/>
              <a:gd name="textAreaRight" fmla="*/ 11684160 w 11683800"/>
              <a:gd name="textAreaTop" fmla="*/ 0 h 4165200"/>
              <a:gd name="textAreaBottom" fmla="*/ 4165560 h 4165200"/>
            </a:gdLst>
            <a:ahLst/>
            <a:cxnLst/>
            <a:rect l="textAreaLeft" t="textAreaTop" r="textAreaRight" b="textAreaBottom"/>
            <a:pathLst>
              <a:path w="11684000" h="4165600">
                <a:moveTo>
                  <a:pt x="101599" y="0"/>
                </a:moveTo>
                <a:lnTo>
                  <a:pt x="11582401" y="0"/>
                </a:lnTo>
                <a:cubicBezTo>
                  <a:pt x="11638513" y="0"/>
                  <a:pt x="11684000" y="45487"/>
                  <a:pt x="11684000" y="101599"/>
                </a:cubicBezTo>
                <a:lnTo>
                  <a:pt x="11684000" y="4064001"/>
                </a:lnTo>
                <a:cubicBezTo>
                  <a:pt x="11684000" y="4120113"/>
                  <a:pt x="11638513" y="4165600"/>
                  <a:pt x="11582401" y="4165600"/>
                </a:cubicBezTo>
                <a:lnTo>
                  <a:pt x="101599" y="4165600"/>
                </a:lnTo>
                <a:cubicBezTo>
                  <a:pt x="45487" y="4165600"/>
                  <a:pt x="0" y="4120113"/>
                  <a:pt x="0" y="40640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3F4F6">
              <a:alpha val="80000"/>
            </a:srgbClr>
          </a:solidFill>
          <a:ln w="0">
            <a:noFill/>
          </a:ln>
          <a:effectLst>
            <a:outerShdw blurRad="190440" dist="12708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3">
            <a:extLst>
              <a:ext uri="{FF2B5EF4-FFF2-40B4-BE49-F238E27FC236}">
                <a16:creationId xmlns:a16="http://schemas.microsoft.com/office/drawing/2014/main" id="{46DA490B-FF08-1A85-394C-2972841F8CFD}"/>
              </a:ext>
            </a:extLst>
          </p:cNvPr>
          <p:cNvSpPr/>
          <p:nvPr/>
        </p:nvSpPr>
        <p:spPr>
          <a:xfrm>
            <a:off x="558720" y="2209680"/>
            <a:ext cx="10015560" cy="358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b="0" u="none" strike="noStrike" dirty="0" err="1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openWithModel</a:t>
            </a: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: </a:t>
            </a:r>
            <a:r>
              <a:rPr lang="en-US" sz="1200" b="0" u="none" strike="noStrike" dirty="0" err="1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aSkBoard</a:t>
            </a:r>
            <a:endParaRPr lang="en-US" sz="1200" b="0" u="none" strike="noStrike" dirty="0">
              <a:solidFill>
                <a:srgbClr val="333333"/>
              </a:solidFill>
              <a:effectLst/>
              <a:uFillTx/>
              <a:latin typeface="MiSans"/>
              <a:ea typeface="MiSans"/>
            </a:endParaRPr>
          </a:p>
          <a:p>
            <a:pPr>
              <a:lnSpc>
                <a:spcPct val="120000"/>
              </a:lnSpc>
            </a:pP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| space |</a:t>
            </a:r>
          </a:p>
          <a:p>
            <a:pPr>
              <a:lnSpc>
                <a:spcPct val="120000"/>
              </a:lnSpc>
            </a:pPr>
            <a:endParaRPr lang="en-US" sz="1200" b="0" u="none" strike="noStrike" dirty="0">
              <a:solidFill>
                <a:srgbClr val="333333"/>
              </a:solidFill>
              <a:effectLst/>
              <a:uFillTx/>
              <a:latin typeface="MiSans"/>
              <a:ea typeface="MiSans"/>
            </a:endParaRPr>
          </a:p>
          <a:p>
            <a:pPr>
              <a:lnSpc>
                <a:spcPct val="120000"/>
              </a:lnSpc>
            </a:pP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"</a:t>
            </a:r>
            <a:r>
              <a:rPr lang="zh-CN" alt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创建窗口（</a:t>
            </a: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Bloc Space）"</a:t>
            </a:r>
          </a:p>
          <a:p>
            <a:pPr>
              <a:lnSpc>
                <a:spcPct val="120000"/>
              </a:lnSpc>
            </a:pP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space := </a:t>
            </a:r>
            <a:r>
              <a:rPr lang="en-US" sz="1200" b="0" u="none" strike="noStrike" dirty="0" err="1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BlSpace</a:t>
            </a: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new.</a:t>
            </a:r>
          </a:p>
          <a:p>
            <a:pPr>
              <a:lnSpc>
                <a:spcPct val="120000"/>
              </a:lnSpc>
            </a:pP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space extent: 500 @ 500.</a:t>
            </a:r>
          </a:p>
          <a:p>
            <a:pPr>
              <a:lnSpc>
                <a:spcPct val="120000"/>
              </a:lnSpc>
            </a:pP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space resizable: false.</a:t>
            </a:r>
          </a:p>
          <a:p>
            <a:pPr>
              <a:lnSpc>
                <a:spcPct val="120000"/>
              </a:lnSpc>
            </a:pPr>
            <a:endParaRPr lang="en-US" sz="1200" b="0" u="none" strike="noStrike" dirty="0">
              <a:solidFill>
                <a:srgbClr val="333333"/>
              </a:solidFill>
              <a:effectLst/>
              <a:uFillTx/>
              <a:latin typeface="MiSans"/>
              <a:ea typeface="MiSans"/>
            </a:endParaRPr>
          </a:p>
          <a:p>
            <a:pPr>
              <a:lnSpc>
                <a:spcPct val="120000"/>
              </a:lnSpc>
            </a:pP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"</a:t>
            </a:r>
            <a:r>
              <a:rPr lang="zh-CN" alt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先把棋盘放到 </a:t>
            </a: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root </a:t>
            </a:r>
            <a:r>
              <a:rPr lang="zh-CN" alt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里</a:t>
            </a:r>
            <a:r>
              <a:rPr lang="en-US" altLang="zh-CN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"</a:t>
            </a:r>
          </a:p>
          <a:p>
            <a:pPr>
              <a:lnSpc>
                <a:spcPct val="120000"/>
              </a:lnSpc>
            </a:pPr>
            <a:r>
              <a:rPr lang="en-US" altLang="zh-CN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</a:t>
            </a: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self board: </a:t>
            </a:r>
            <a:r>
              <a:rPr lang="en-US" sz="1200" b="0" u="none" strike="noStrike" dirty="0" err="1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aSkBoard</a:t>
            </a: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space root </a:t>
            </a:r>
            <a:r>
              <a:rPr lang="en-US" sz="1200" b="0" u="none" strike="noStrike" dirty="0" err="1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addChild</a:t>
            </a: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: self.</a:t>
            </a:r>
          </a:p>
          <a:p>
            <a:pPr>
              <a:lnSpc>
                <a:spcPct val="120000"/>
              </a:lnSpc>
            </a:pPr>
            <a:endParaRPr lang="en-US" sz="1200" b="0" u="none" strike="noStrike" dirty="0">
              <a:solidFill>
                <a:srgbClr val="333333"/>
              </a:solidFill>
              <a:effectLst/>
              <a:uFillTx/>
              <a:latin typeface="MiSans"/>
              <a:ea typeface="MiSans"/>
            </a:endParaRPr>
          </a:p>
          <a:p>
            <a:pPr>
              <a:lnSpc>
                <a:spcPct val="120000"/>
              </a:lnSpc>
            </a:pP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"</a:t>
            </a:r>
            <a:r>
              <a:rPr lang="zh-CN" alt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创建 </a:t>
            </a:r>
            <a:r>
              <a:rPr lang="en-US" altLang="zh-CN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/ </a:t>
            </a:r>
            <a:r>
              <a:rPr lang="zh-CN" alt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更新显示步数的 </a:t>
            </a: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label"</a:t>
            </a:r>
          </a:p>
          <a:p>
            <a:pPr>
              <a:lnSpc>
                <a:spcPct val="120000"/>
              </a:lnSpc>
            </a:pP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</a:t>
            </a:r>
            <a:r>
              <a:rPr lang="en-US" sz="1200" b="0" u="none" strike="noStrike" dirty="0" err="1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moveLabel</a:t>
            </a: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</a:t>
            </a:r>
            <a:r>
              <a:rPr lang="en-US" sz="1200" b="0" u="none" strike="noStrike" dirty="0" err="1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ifNil</a:t>
            </a: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: [</a:t>
            </a:r>
          </a:p>
          <a:p>
            <a:pPr>
              <a:lnSpc>
                <a:spcPct val="120000"/>
              </a:lnSpc>
            </a:pP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    </a:t>
            </a:r>
            <a:r>
              <a:rPr lang="en-US" sz="1200" b="0" u="none" strike="noStrike" dirty="0" err="1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moveLabel</a:t>
            </a: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:= </a:t>
            </a:r>
            <a:r>
              <a:rPr lang="en-US" sz="1200" b="0" u="none" strike="noStrike" dirty="0" err="1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BlTextElement</a:t>
            </a: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new ].</a:t>
            </a:r>
          </a:p>
          <a:p>
            <a:pPr>
              <a:lnSpc>
                <a:spcPct val="120000"/>
              </a:lnSpc>
            </a:pP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</a:t>
            </a:r>
            <a:r>
              <a:rPr lang="en-US" sz="1200" b="0" u="none" strike="noStrike" dirty="0" err="1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moveLabel</a:t>
            </a: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text: ('Moves: ', self board </a:t>
            </a:r>
            <a:r>
              <a:rPr lang="en-US" sz="1200" b="0" u="none" strike="noStrike" dirty="0" err="1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moveCount</a:t>
            </a: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</a:t>
            </a:r>
            <a:r>
              <a:rPr lang="en-US" sz="1200" b="0" u="none" strike="noStrike" dirty="0" err="1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asString</a:t>
            </a: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) </a:t>
            </a:r>
            <a:r>
              <a:rPr lang="en-US" sz="1200" b="0" u="none" strike="noStrike" dirty="0" err="1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asRopedText</a:t>
            </a:r>
            <a:r>
              <a:rPr lang="en-US" sz="12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.</a:t>
            </a:r>
          </a:p>
          <a:p>
            <a:pPr>
              <a:lnSpc>
                <a:spcPct val="120000"/>
              </a:lnSpc>
            </a:pPr>
            <a:endParaRPr lang="en-US" sz="1200" b="0" u="none" strike="noStrike" dirty="0">
              <a:solidFill>
                <a:srgbClr val="333333"/>
              </a:solidFill>
              <a:effectLst/>
              <a:uFillTx/>
              <a:latin typeface="MiSans"/>
              <a:ea typeface="MiSans"/>
            </a:endParaRPr>
          </a:p>
        </p:txBody>
      </p:sp>
      <p:sp>
        <p:nvSpPr>
          <p:cNvPr id="299" name="Shape 4">
            <a:extLst>
              <a:ext uri="{FF2B5EF4-FFF2-40B4-BE49-F238E27FC236}">
                <a16:creationId xmlns:a16="http://schemas.microsoft.com/office/drawing/2014/main" id="{427BEF91-FE30-7BC3-9FDA-FCC86EE0EE66}"/>
              </a:ext>
            </a:extLst>
          </p:cNvPr>
          <p:cNvSpPr/>
          <p:nvPr/>
        </p:nvSpPr>
        <p:spPr>
          <a:xfrm>
            <a:off x="2372400" y="6083280"/>
            <a:ext cx="228240" cy="228240"/>
          </a:xfrm>
          <a:custGeom>
            <a:avLst/>
            <a:gdLst>
              <a:gd name="textAreaLeft" fmla="*/ 0 w 228240"/>
              <a:gd name="textAreaRight" fmla="*/ 228600 w 228240"/>
              <a:gd name="textAreaTop" fmla="*/ 0 h 228240"/>
              <a:gd name="textAreaBottom" fmla="*/ 228600 h 228240"/>
            </a:gdLst>
            <a:ahLst/>
            <a:cxnLst/>
            <a:rect l="textAreaLeft" t="textAreaTop" r="textAreaRight" b="textAreaBottom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4080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5">
            <a:extLst>
              <a:ext uri="{FF2B5EF4-FFF2-40B4-BE49-F238E27FC236}">
                <a16:creationId xmlns:a16="http://schemas.microsoft.com/office/drawing/2014/main" id="{4BBE6E7C-3817-C06F-1F0A-13DBB3CE2BF4}"/>
              </a:ext>
            </a:extLst>
          </p:cNvPr>
          <p:cNvSpPr/>
          <p:nvPr/>
        </p:nvSpPr>
        <p:spPr>
          <a:xfrm>
            <a:off x="2728080" y="6019920"/>
            <a:ext cx="326340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800" b="1" u="none" strike="noStrike">
                <a:solidFill>
                  <a:srgbClr val="4080FF"/>
                </a:solidFill>
                <a:effectLst/>
                <a:uFillTx/>
                <a:latin typeface="MiSans"/>
                <a:ea typeface="MiSans"/>
              </a:rPr>
              <a:t>Vérification Post-Mouvement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6">
            <a:extLst>
              <a:ext uri="{FF2B5EF4-FFF2-40B4-BE49-F238E27FC236}">
                <a16:creationId xmlns:a16="http://schemas.microsoft.com/office/drawing/2014/main" id="{D280BEDB-37BC-1590-63C7-6B96AF33939F}"/>
              </a:ext>
            </a:extLst>
          </p:cNvPr>
          <p:cNvSpPr/>
          <p:nvPr/>
        </p:nvSpPr>
        <p:spPr>
          <a:xfrm>
            <a:off x="6081480" y="5994360"/>
            <a:ext cx="456840" cy="40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400" b="0" u="none" strike="noStrike">
                <a:solidFill>
                  <a:srgbClr val="FFC200"/>
                </a:solidFill>
                <a:effectLst/>
                <a:uFillTx/>
                <a:latin typeface="Noto Sans SC"/>
                <a:ea typeface="Noto Sans SC"/>
              </a:rPr>
              <a:t>→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7">
            <a:extLst>
              <a:ext uri="{FF2B5EF4-FFF2-40B4-BE49-F238E27FC236}">
                <a16:creationId xmlns:a16="http://schemas.microsoft.com/office/drawing/2014/main" id="{A3635C99-0B38-F4B6-2EBB-224AE12FA7AE}"/>
              </a:ext>
            </a:extLst>
          </p:cNvPr>
          <p:cNvSpPr/>
          <p:nvPr/>
        </p:nvSpPr>
        <p:spPr>
          <a:xfrm>
            <a:off x="6635520" y="6083280"/>
            <a:ext cx="199800" cy="228240"/>
          </a:xfrm>
          <a:custGeom>
            <a:avLst/>
            <a:gdLst>
              <a:gd name="textAreaLeft" fmla="*/ 0 w 199800"/>
              <a:gd name="textAreaRight" fmla="*/ 200160 w 199800"/>
              <a:gd name="textAreaTop" fmla="*/ 0 h 228240"/>
              <a:gd name="textAreaBottom" fmla="*/ 228600 h 228240"/>
            </a:gdLst>
            <a:ahLst/>
            <a:cxnLst/>
            <a:rect l="textAreaLeft" t="textAreaTop" r="textAreaRight" b="textAreaBottom"/>
            <a:pathLst>
              <a:path w="200025" h="228600">
                <a:moveTo>
                  <a:pt x="57150" y="17859"/>
                </a:moveTo>
                <a:cubicBezTo>
                  <a:pt x="57150" y="7992"/>
                  <a:pt x="65142" y="0"/>
                  <a:pt x="75009" y="0"/>
                </a:cubicBezTo>
                <a:cubicBezTo>
                  <a:pt x="84877" y="0"/>
                  <a:pt x="92869" y="7992"/>
                  <a:pt x="92869" y="17859"/>
                </a:cubicBezTo>
                <a:lnTo>
                  <a:pt x="92869" y="84028"/>
                </a:lnTo>
                <a:cubicBezTo>
                  <a:pt x="96664" y="80635"/>
                  <a:pt x="101664" y="78581"/>
                  <a:pt x="107156" y="78581"/>
                </a:cubicBezTo>
                <a:cubicBezTo>
                  <a:pt x="116354" y="78581"/>
                  <a:pt x="124212" y="84386"/>
                  <a:pt x="127248" y="92512"/>
                </a:cubicBezTo>
                <a:cubicBezTo>
                  <a:pt x="131177" y="88359"/>
                  <a:pt x="136714" y="85725"/>
                  <a:pt x="142875" y="85725"/>
                </a:cubicBezTo>
                <a:cubicBezTo>
                  <a:pt x="154171" y="85725"/>
                  <a:pt x="163413" y="94431"/>
                  <a:pt x="164262" y="105504"/>
                </a:cubicBezTo>
                <a:cubicBezTo>
                  <a:pt x="168057" y="102066"/>
                  <a:pt x="173102" y="100013"/>
                  <a:pt x="178594" y="100013"/>
                </a:cubicBezTo>
                <a:cubicBezTo>
                  <a:pt x="190426" y="100013"/>
                  <a:pt x="200025" y="109612"/>
                  <a:pt x="200025" y="121444"/>
                </a:cubicBezTo>
                <a:lnTo>
                  <a:pt x="200025" y="171450"/>
                </a:lnTo>
                <a:cubicBezTo>
                  <a:pt x="200025" y="203016"/>
                  <a:pt x="174441" y="228600"/>
                  <a:pt x="142875" y="228600"/>
                </a:cubicBezTo>
                <a:lnTo>
                  <a:pt x="104790" y="228600"/>
                </a:lnTo>
                <a:cubicBezTo>
                  <a:pt x="102557" y="228600"/>
                  <a:pt x="100370" y="228466"/>
                  <a:pt x="98227" y="228154"/>
                </a:cubicBezTo>
                <a:cubicBezTo>
                  <a:pt x="73536" y="225653"/>
                  <a:pt x="50810" y="212973"/>
                  <a:pt x="35719" y="192881"/>
                </a:cubicBezTo>
                <a:lnTo>
                  <a:pt x="3572" y="150019"/>
                </a:lnTo>
                <a:cubicBezTo>
                  <a:pt x="-2366" y="142116"/>
                  <a:pt x="-759" y="130954"/>
                  <a:pt x="7144" y="125016"/>
                </a:cubicBezTo>
                <a:cubicBezTo>
                  <a:pt x="15047" y="119077"/>
                  <a:pt x="26209" y="120685"/>
                  <a:pt x="32147" y="128588"/>
                </a:cubicBezTo>
                <a:lnTo>
                  <a:pt x="57150" y="161940"/>
                </a:lnTo>
                <a:lnTo>
                  <a:pt x="57150" y="17859"/>
                </a:lnTo>
                <a:close/>
                <a:moveTo>
                  <a:pt x="107156" y="135731"/>
                </a:moveTo>
                <a:cubicBezTo>
                  <a:pt x="107156" y="131802"/>
                  <a:pt x="103942" y="128588"/>
                  <a:pt x="100013" y="128588"/>
                </a:cubicBezTo>
                <a:cubicBezTo>
                  <a:pt x="96083" y="128588"/>
                  <a:pt x="92869" y="131802"/>
                  <a:pt x="92869" y="135731"/>
                </a:cubicBezTo>
                <a:lnTo>
                  <a:pt x="92869" y="178594"/>
                </a:lnTo>
                <a:cubicBezTo>
                  <a:pt x="92869" y="182523"/>
                  <a:pt x="96083" y="185738"/>
                  <a:pt x="100013" y="185738"/>
                </a:cubicBezTo>
                <a:cubicBezTo>
                  <a:pt x="103942" y="185738"/>
                  <a:pt x="107156" y="182523"/>
                  <a:pt x="107156" y="178594"/>
                </a:cubicBezTo>
                <a:lnTo>
                  <a:pt x="107156" y="135731"/>
                </a:lnTo>
                <a:close/>
                <a:moveTo>
                  <a:pt x="128588" y="128588"/>
                </a:moveTo>
                <a:cubicBezTo>
                  <a:pt x="124658" y="128588"/>
                  <a:pt x="121444" y="131802"/>
                  <a:pt x="121444" y="135731"/>
                </a:cubicBezTo>
                <a:lnTo>
                  <a:pt x="121444" y="178594"/>
                </a:lnTo>
                <a:cubicBezTo>
                  <a:pt x="121444" y="182523"/>
                  <a:pt x="124658" y="185738"/>
                  <a:pt x="128588" y="185738"/>
                </a:cubicBezTo>
                <a:cubicBezTo>
                  <a:pt x="132517" y="185738"/>
                  <a:pt x="135731" y="182523"/>
                  <a:pt x="135731" y="178594"/>
                </a:cubicBezTo>
                <a:lnTo>
                  <a:pt x="135731" y="135731"/>
                </a:lnTo>
                <a:cubicBezTo>
                  <a:pt x="135731" y="131802"/>
                  <a:pt x="132517" y="128588"/>
                  <a:pt x="128588" y="128588"/>
                </a:cubicBezTo>
                <a:close/>
                <a:moveTo>
                  <a:pt x="164306" y="135731"/>
                </a:moveTo>
                <a:cubicBezTo>
                  <a:pt x="164306" y="131802"/>
                  <a:pt x="161092" y="128588"/>
                  <a:pt x="157163" y="128588"/>
                </a:cubicBezTo>
                <a:cubicBezTo>
                  <a:pt x="153233" y="128588"/>
                  <a:pt x="150019" y="131802"/>
                  <a:pt x="150019" y="135731"/>
                </a:cubicBezTo>
                <a:lnTo>
                  <a:pt x="150019" y="178594"/>
                </a:lnTo>
                <a:cubicBezTo>
                  <a:pt x="150019" y="182523"/>
                  <a:pt x="153233" y="185738"/>
                  <a:pt x="157163" y="185738"/>
                </a:cubicBezTo>
                <a:cubicBezTo>
                  <a:pt x="161092" y="185738"/>
                  <a:pt x="164306" y="182523"/>
                  <a:pt x="164306" y="178594"/>
                </a:cubicBezTo>
                <a:lnTo>
                  <a:pt x="164306" y="135731"/>
                </a:lnTo>
                <a:close/>
              </a:path>
            </a:pathLst>
          </a:custGeom>
          <a:solidFill>
            <a:srgbClr val="00AE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8">
            <a:extLst>
              <a:ext uri="{FF2B5EF4-FFF2-40B4-BE49-F238E27FC236}">
                <a16:creationId xmlns:a16="http://schemas.microsoft.com/office/drawing/2014/main" id="{CE13AE9C-B0DF-AB3F-5A09-9197D85ECD3E}"/>
              </a:ext>
            </a:extLst>
          </p:cNvPr>
          <p:cNvSpPr/>
          <p:nvPr/>
        </p:nvSpPr>
        <p:spPr>
          <a:xfrm>
            <a:off x="6976800" y="6019920"/>
            <a:ext cx="298404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800" b="1" u="none" strike="noStrike" dirty="0" err="1">
                <a:solidFill>
                  <a:srgbClr val="00AEEF"/>
                </a:solidFill>
                <a:effectLst/>
                <a:uFillTx/>
                <a:latin typeface="MiSans"/>
                <a:ea typeface="MiSans"/>
              </a:rPr>
              <a:t>Déclenchement</a:t>
            </a:r>
            <a:r>
              <a:rPr lang="en-US" sz="1800" b="1" u="none" strike="noStrike" dirty="0">
                <a:solidFill>
                  <a:srgbClr val="00AEEF"/>
                </a:solidFill>
                <a:effectLst/>
                <a:uFillTx/>
                <a:latin typeface="MiSans"/>
                <a:ea typeface="MiSans"/>
              </a:rPr>
              <a:t> de </a:t>
            </a:r>
            <a:r>
              <a:rPr lang="en-US" sz="1800" b="1" u="none" strike="noStrike" dirty="0" err="1">
                <a:solidFill>
                  <a:srgbClr val="00AEEF"/>
                </a:solidFill>
                <a:effectLst/>
                <a:uFillTx/>
                <a:latin typeface="MiSans"/>
                <a:ea typeface="MiSans"/>
              </a:rPr>
              <a:t>l'action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9">
            <a:extLst>
              <a:ext uri="{FF2B5EF4-FFF2-40B4-BE49-F238E27FC236}">
                <a16:creationId xmlns:a16="http://schemas.microsoft.com/office/drawing/2014/main" id="{1EFB640B-C79F-27F4-8AFD-6D21ED3A7C4E}"/>
              </a:ext>
            </a:extLst>
          </p:cNvPr>
          <p:cNvSpPr/>
          <p:nvPr/>
        </p:nvSpPr>
        <p:spPr>
          <a:xfrm>
            <a:off x="4838246" y="2240280"/>
            <a:ext cx="6746760" cy="791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 "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把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label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固定在右上角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"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   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moveLabel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constraintsDo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: [:c |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        c frame horizontal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alignRight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        c frame vertical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alignTop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        c padding: (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BlInsets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iSans"/>
              <a:ea typeface="MiSans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            top: 10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            left: 0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            bottom: 0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            right: 10) ].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iSans"/>
              <a:ea typeface="MiSans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    "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把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label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加到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root，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确保它在棋盘之上绘制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"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    space root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addChild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: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moveLabel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iSans"/>
              <a:ea typeface="MiSans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Sans"/>
                <a:ea typeface="MiSans"/>
                <a:cs typeface="+mn-cs"/>
              </a:rPr>
              <a:t>    space show    </a:t>
            </a:r>
            <a:endParaRPr lang="en-US" altLang="zh-CN" sz="1600" b="0" u="none" strike="noStrike" dirty="0">
              <a:solidFill>
                <a:srgbClr val="333333"/>
              </a:solidFill>
              <a:effectLst/>
              <a:uFillTx/>
              <a:latin typeface="MiSans"/>
              <a:ea typeface="MiSans"/>
            </a:endParaRPr>
          </a:p>
          <a:p>
            <a:pPr>
              <a:lnSpc>
                <a:spcPct val="120000"/>
              </a:lnSpc>
            </a:pPr>
            <a:r>
              <a:rPr lang="en-US" altLang="zh-CN" sz="1600" b="0" u="none" strike="noStrike" dirty="0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    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C9FC413-98B8-BFEB-4F83-75F3405695E5}"/>
              </a:ext>
            </a:extLst>
          </p:cNvPr>
          <p:cNvSpPr txBox="1"/>
          <p:nvPr/>
        </p:nvSpPr>
        <p:spPr>
          <a:xfrm>
            <a:off x="8823322" y="2134522"/>
            <a:ext cx="31000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 </a:t>
            </a:r>
            <a:r>
              <a:rPr lang="en-US" altLang="zh-CN" dirty="0" err="1"/>
              <a:t>MygSkBoardElement</a:t>
            </a:r>
            <a:r>
              <a:rPr lang="en-US" altLang="zh-CN" dirty="0"/>
              <a:t> &gt;&gt; </a:t>
            </a:r>
            <a:r>
              <a:rPr lang="en-US" altLang="zh-CN" dirty="0" err="1"/>
              <a:t>manageEvent</a:t>
            </a:r>
            <a:r>
              <a:rPr lang="en-US" altLang="zh-CN" dirty="0"/>
              <a:t>: </a:t>
            </a:r>
            <a:r>
              <a:rPr lang="zh-CN" altLang="en-US" dirty="0"/>
              <a:t>里，</a:t>
            </a:r>
          </a:p>
          <a:p>
            <a:r>
              <a:rPr lang="zh-CN" altLang="en-US" dirty="0"/>
              <a:t>在你已经有的 </a:t>
            </a:r>
            <a:r>
              <a:rPr lang="en-US" altLang="zh-CN" dirty="0"/>
              <a:t>moved </a:t>
            </a:r>
            <a:r>
              <a:rPr lang="en-US" altLang="zh-CN" dirty="0" err="1"/>
              <a:t>ifTrue</a:t>
            </a:r>
            <a:r>
              <a:rPr lang="en-US" altLang="zh-CN" dirty="0"/>
              <a:t>: </a:t>
            </a:r>
            <a:r>
              <a:rPr lang="zh-CN" altLang="en-US" dirty="0"/>
              <a:t>那段里，确保是这样（或逻辑等价）：</a:t>
            </a:r>
            <a:endParaRPr lang="en-US" altLang="zh-CN" dirty="0"/>
          </a:p>
          <a:p>
            <a:r>
              <a:rPr lang="en-US" altLang="zh-CN" dirty="0"/>
              <a:t>moved </a:t>
            </a:r>
            <a:r>
              <a:rPr lang="en-US" altLang="zh-CN" dirty="0" err="1"/>
              <a:t>ifTrue</a:t>
            </a:r>
            <a:r>
              <a:rPr lang="en-US" altLang="zh-CN" dirty="0"/>
              <a:t>: [</a:t>
            </a:r>
          </a:p>
          <a:p>
            <a:r>
              <a:rPr lang="en-US" altLang="zh-CN" dirty="0"/>
              <a:t>    self board </a:t>
            </a:r>
            <a:r>
              <a:rPr lang="en-US" altLang="zh-CN" dirty="0" err="1"/>
              <a:t>moveCount</a:t>
            </a:r>
            <a:r>
              <a:rPr lang="en-US" altLang="zh-CN" dirty="0"/>
              <a:t>: self board </a:t>
            </a:r>
            <a:r>
              <a:rPr lang="en-US" altLang="zh-CN" dirty="0" err="1"/>
              <a:t>moveCount</a:t>
            </a:r>
            <a:r>
              <a:rPr lang="en-US" altLang="zh-CN" dirty="0"/>
              <a:t> + 1.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moveLabel</a:t>
            </a:r>
            <a:r>
              <a:rPr lang="en-US" altLang="zh-CN" dirty="0"/>
              <a:t> text: ('Moves: ', self board </a:t>
            </a:r>
            <a:r>
              <a:rPr lang="en-US" altLang="zh-CN" dirty="0" err="1"/>
              <a:t>moveCount</a:t>
            </a:r>
            <a:r>
              <a:rPr lang="en-US" altLang="zh-CN" dirty="0"/>
              <a:t> </a:t>
            </a:r>
            <a:r>
              <a:rPr lang="en-US" altLang="zh-CN" dirty="0" err="1"/>
              <a:t>asString</a:t>
            </a:r>
            <a:r>
              <a:rPr lang="en-US" altLang="zh-CN" dirty="0"/>
              <a:t>) </a:t>
            </a:r>
            <a:r>
              <a:rPr lang="en-US" altLang="zh-CN" dirty="0" err="1"/>
              <a:t>asRopedText</a:t>
            </a:r>
            <a:endParaRPr lang="en-US" altLang="zh-CN" dirty="0"/>
          </a:p>
          <a:p>
            <a:r>
              <a:rPr lang="en-US" altLang="zh-CN" dirty="0"/>
              <a:t>].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9334692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Image 0" descr="https://kimi-img.moonshot.cn/pub/slides/slides_tmpl/image/25-09-04-14:55:18-d2sjflm1bb2p4onbq1b0.png"/>
          <p:cNvPicPr/>
          <p:nvPr/>
        </p:nvPicPr>
        <p:blipFill>
          <a:blip r:embed="rId3"/>
          <a:stretch/>
        </p:blipFill>
        <p:spPr>
          <a:xfrm>
            <a:off x="4558680" y="1141200"/>
            <a:ext cx="3619080" cy="391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Shape 0"/>
          <p:cNvSpPr/>
          <p:nvPr/>
        </p:nvSpPr>
        <p:spPr>
          <a:xfrm>
            <a:off x="2047320" y="5054040"/>
            <a:ext cx="8642520" cy="119916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5715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"/>
          <p:cNvSpPr/>
          <p:nvPr/>
        </p:nvSpPr>
        <p:spPr>
          <a:xfrm>
            <a:off x="2047320" y="5054040"/>
            <a:ext cx="8642520" cy="11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2"/>
          <p:cNvSpPr/>
          <p:nvPr/>
        </p:nvSpPr>
        <p:spPr>
          <a:xfrm>
            <a:off x="1920240" y="4884480"/>
            <a:ext cx="8642520" cy="1199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3"/>
          <p:cNvSpPr/>
          <p:nvPr/>
        </p:nvSpPr>
        <p:spPr>
          <a:xfrm>
            <a:off x="1920240" y="4884480"/>
            <a:ext cx="8642520" cy="11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4"/>
          <p:cNvSpPr/>
          <p:nvPr/>
        </p:nvSpPr>
        <p:spPr>
          <a:xfrm>
            <a:off x="1920240" y="5045760"/>
            <a:ext cx="8643240" cy="81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5400" b="1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Conclusion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5"/>
          <p:cNvSpPr/>
          <p:nvPr/>
        </p:nvSpPr>
        <p:spPr>
          <a:xfrm>
            <a:off x="3447360" y="304560"/>
            <a:ext cx="5639760" cy="101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600" b="1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PART  07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6"/>
          <p:cNvSpPr/>
          <p:nvPr/>
        </p:nvSpPr>
        <p:spPr>
          <a:xfrm>
            <a:off x="291240" y="607500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7"/>
          <p:cNvSpPr/>
          <p:nvPr/>
        </p:nvSpPr>
        <p:spPr>
          <a:xfrm>
            <a:off x="291240" y="630864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8"/>
          <p:cNvSpPr/>
          <p:nvPr/>
        </p:nvSpPr>
        <p:spPr>
          <a:xfrm>
            <a:off x="291240" y="6542280"/>
            <a:ext cx="607680" cy="360"/>
          </a:xfrm>
          <a:prstGeom prst="line">
            <a:avLst/>
          </a:prstGeom>
          <a:ln w="571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9"/>
          <p:cNvSpPr/>
          <p:nvPr/>
        </p:nvSpPr>
        <p:spPr>
          <a:xfrm>
            <a:off x="291600" y="202680"/>
            <a:ext cx="336960" cy="336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0"/>
          <p:cNvSpPr/>
          <p:nvPr/>
        </p:nvSpPr>
        <p:spPr>
          <a:xfrm>
            <a:off x="29160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11"/>
          <p:cNvSpPr/>
          <p:nvPr/>
        </p:nvSpPr>
        <p:spPr>
          <a:xfrm>
            <a:off x="1251720" y="202680"/>
            <a:ext cx="336960" cy="336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2"/>
          <p:cNvSpPr/>
          <p:nvPr/>
        </p:nvSpPr>
        <p:spPr>
          <a:xfrm>
            <a:off x="125172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3"/>
          <p:cNvSpPr/>
          <p:nvPr/>
        </p:nvSpPr>
        <p:spPr>
          <a:xfrm>
            <a:off x="771480" y="202680"/>
            <a:ext cx="336960" cy="336960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4"/>
          <p:cNvSpPr/>
          <p:nvPr/>
        </p:nvSpPr>
        <p:spPr>
          <a:xfrm>
            <a:off x="77148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5"/>
          <p:cNvSpPr/>
          <p:nvPr/>
        </p:nvSpPr>
        <p:spPr>
          <a:xfrm>
            <a:off x="1731600" y="202680"/>
            <a:ext cx="336960" cy="336960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6"/>
          <p:cNvSpPr/>
          <p:nvPr/>
        </p:nvSpPr>
        <p:spPr>
          <a:xfrm>
            <a:off x="1731600" y="202680"/>
            <a:ext cx="33696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 0"/>
          <p:cNvSpPr/>
          <p:nvPr/>
        </p:nvSpPr>
        <p:spPr>
          <a:xfrm>
            <a:off x="1827720" y="1066680"/>
            <a:ext cx="876276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3600" b="1" u="none" strike="noStrike">
                <a:solidFill>
                  <a:srgbClr val="00AEEF"/>
                </a:solidFill>
                <a:effectLst/>
                <a:uFillTx/>
                <a:latin typeface="Noto Sans SC"/>
                <a:ea typeface="Noto Sans SC"/>
              </a:rPr>
              <a:t>Conclusion : Une extension exemplaire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"/>
          <p:cNvSpPr/>
          <p:nvPr/>
        </p:nvSpPr>
        <p:spPr>
          <a:xfrm>
            <a:off x="196920" y="1778040"/>
            <a:ext cx="11797920" cy="71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La téléportation est une preuve par l'exemple que le design objet bien mené rend l'évolution logicielle simple et sûre.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2"/>
          <p:cNvSpPr/>
          <p:nvPr/>
        </p:nvSpPr>
        <p:spPr>
          <a:xfrm>
            <a:off x="253800" y="2895480"/>
            <a:ext cx="360" cy="1727280"/>
          </a:xfrm>
          <a:prstGeom prst="line">
            <a:avLst/>
          </a:prstGeom>
          <a:ln w="50800">
            <a:solidFill>
              <a:srgbClr val="4080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3"/>
          <p:cNvSpPr/>
          <p:nvPr/>
        </p:nvSpPr>
        <p:spPr>
          <a:xfrm>
            <a:off x="254160" y="2895480"/>
            <a:ext cx="5638320" cy="1726920"/>
          </a:xfrm>
          <a:custGeom>
            <a:avLst/>
            <a:gdLst>
              <a:gd name="textAreaLeft" fmla="*/ 0 w 5638320"/>
              <a:gd name="textAreaRight" fmla="*/ 5638680 w 5638320"/>
              <a:gd name="textAreaTop" fmla="*/ 0 h 1726920"/>
              <a:gd name="textAreaBottom" fmla="*/ 1727280 h 1726920"/>
            </a:gdLst>
            <a:ahLst/>
            <a:cxnLst/>
            <a:rect l="textAreaLeft" t="textAreaTop" r="textAreaRight" b="textAreaBottom"/>
            <a:pathLst>
              <a:path w="5638800" h="1727200">
                <a:moveTo>
                  <a:pt x="0" y="0"/>
                </a:moveTo>
                <a:lnTo>
                  <a:pt x="5537206" y="0"/>
                </a:lnTo>
                <a:cubicBezTo>
                  <a:pt x="5593315" y="0"/>
                  <a:pt x="5638800" y="45485"/>
                  <a:pt x="5638800" y="101594"/>
                </a:cubicBezTo>
                <a:lnTo>
                  <a:pt x="5638800" y="1625606"/>
                </a:lnTo>
                <a:cubicBezTo>
                  <a:pt x="5638800" y="1681715"/>
                  <a:pt x="5593315" y="1727200"/>
                  <a:pt x="5537206" y="1727200"/>
                </a:cubicBez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4080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4"/>
          <p:cNvSpPr/>
          <p:nvPr/>
        </p:nvSpPr>
        <p:spPr>
          <a:xfrm>
            <a:off x="507960" y="3098880"/>
            <a:ext cx="534636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800" b="1" u="none" strike="noStrike">
                <a:solidFill>
                  <a:srgbClr val="4080FF"/>
                </a:solidFill>
                <a:effectLst/>
                <a:uFillTx/>
                <a:latin typeface="MiSans"/>
                <a:ea typeface="MiSans"/>
              </a:rPr>
              <a:t>✔ Avantages Clés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5"/>
          <p:cNvSpPr/>
          <p:nvPr/>
        </p:nvSpPr>
        <p:spPr>
          <a:xfrm>
            <a:off x="507960" y="3556080"/>
            <a:ext cx="5320800" cy="86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254160" indent="-254160">
              <a:lnSpc>
                <a:spcPct val="120000"/>
              </a:lnSpc>
              <a:spcBef>
                <a:spcPts val="11"/>
              </a:spcBef>
              <a:buClr>
                <a:srgbClr val="333333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Aucune modification de `Board` ou `Player`.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20000"/>
              </a:lnSpc>
              <a:spcBef>
                <a:spcPts val="11"/>
              </a:spcBef>
              <a:buClr>
                <a:srgbClr val="333333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Logique isolée dans une seule tuile.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20000"/>
              </a:lnSpc>
              <a:spcBef>
                <a:spcPts val="11"/>
              </a:spcBef>
              <a:buClr>
                <a:srgbClr val="333333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Architecture propre et extensible.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6"/>
          <p:cNvSpPr/>
          <p:nvPr/>
        </p:nvSpPr>
        <p:spPr>
          <a:xfrm>
            <a:off x="6248160" y="2895480"/>
            <a:ext cx="360" cy="1727280"/>
          </a:xfrm>
          <a:prstGeom prst="line">
            <a:avLst/>
          </a:prstGeom>
          <a:ln w="50800">
            <a:solidFill>
              <a:srgbClr val="FFC2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7"/>
          <p:cNvSpPr/>
          <p:nvPr/>
        </p:nvSpPr>
        <p:spPr>
          <a:xfrm>
            <a:off x="6248520" y="2895480"/>
            <a:ext cx="5638320" cy="1726920"/>
          </a:xfrm>
          <a:custGeom>
            <a:avLst/>
            <a:gdLst>
              <a:gd name="textAreaLeft" fmla="*/ 0 w 5638320"/>
              <a:gd name="textAreaRight" fmla="*/ 5638680 w 5638320"/>
              <a:gd name="textAreaTop" fmla="*/ 0 h 1726920"/>
              <a:gd name="textAreaBottom" fmla="*/ 1727280 h 1726920"/>
            </a:gdLst>
            <a:ahLst/>
            <a:cxnLst/>
            <a:rect l="textAreaLeft" t="textAreaTop" r="textAreaRight" b="textAreaBottom"/>
            <a:pathLst>
              <a:path w="5638800" h="1727200">
                <a:moveTo>
                  <a:pt x="0" y="0"/>
                </a:moveTo>
                <a:lnTo>
                  <a:pt x="5537206" y="0"/>
                </a:lnTo>
                <a:cubicBezTo>
                  <a:pt x="5593315" y="0"/>
                  <a:pt x="5638800" y="45485"/>
                  <a:pt x="5638800" y="101594"/>
                </a:cubicBezTo>
                <a:lnTo>
                  <a:pt x="5638800" y="1625606"/>
                </a:lnTo>
                <a:cubicBezTo>
                  <a:pt x="5638800" y="1681715"/>
                  <a:pt x="5593315" y="1727200"/>
                  <a:pt x="5537206" y="1727200"/>
                </a:cubicBez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FFC2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8"/>
          <p:cNvSpPr/>
          <p:nvPr/>
        </p:nvSpPr>
        <p:spPr>
          <a:xfrm>
            <a:off x="6502320" y="3098880"/>
            <a:ext cx="534636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800" b="1" u="none" strike="noStrike">
                <a:solidFill>
                  <a:srgbClr val="FFC200"/>
                </a:solidFill>
                <a:effectLst/>
                <a:uFillTx/>
                <a:latin typeface="MiSans"/>
                <a:ea typeface="MiSans"/>
              </a:rPr>
              <a:t>✔ Principes Objet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9"/>
          <p:cNvSpPr/>
          <p:nvPr/>
        </p:nvSpPr>
        <p:spPr>
          <a:xfrm>
            <a:off x="6502320" y="3556080"/>
            <a:ext cx="5320800" cy="86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254160" indent="-254160">
              <a:lnSpc>
                <a:spcPct val="120000"/>
              </a:lnSpc>
              <a:spcBef>
                <a:spcPts val="11"/>
              </a:spcBef>
              <a:buClr>
                <a:srgbClr val="333333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Héritage et Polymorphisme.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20000"/>
              </a:lnSpc>
              <a:spcBef>
                <a:spcPts val="11"/>
              </a:spcBef>
              <a:buClr>
                <a:srgbClr val="333333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Encapsulation et Responsabilité Unique.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20000"/>
              </a:lnSpc>
              <a:spcBef>
                <a:spcPts val="11"/>
              </a:spcBef>
              <a:buClr>
                <a:srgbClr val="333333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MiSans"/>
                <a:ea typeface="MiSans"/>
              </a:rPr>
              <a:t>Open/Closed Principle parfaitement illustré.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0"/>
          <p:cNvSpPr/>
          <p:nvPr/>
        </p:nvSpPr>
        <p:spPr>
          <a:xfrm>
            <a:off x="254160" y="5029200"/>
            <a:ext cx="11683800" cy="761760"/>
          </a:xfrm>
          <a:custGeom>
            <a:avLst/>
            <a:gdLst>
              <a:gd name="textAreaLeft" fmla="*/ 0 w 11683800"/>
              <a:gd name="textAreaRight" fmla="*/ 11684160 w 11683800"/>
              <a:gd name="textAreaTop" fmla="*/ 0 h 761760"/>
              <a:gd name="textAreaBottom" fmla="*/ 762120 h 761760"/>
            </a:gdLst>
            <a:ahLst/>
            <a:cxnLst/>
            <a:rect l="textAreaLeft" t="textAreaTop" r="textAreaRight" b="textAreaBottom"/>
            <a:pathLst>
              <a:path w="11684000" h="762000">
                <a:moveTo>
                  <a:pt x="101597" y="0"/>
                </a:moveTo>
                <a:lnTo>
                  <a:pt x="11582403" y="0"/>
                </a:lnTo>
                <a:cubicBezTo>
                  <a:pt x="11638513" y="0"/>
                  <a:pt x="11684000" y="45487"/>
                  <a:pt x="11684000" y="101597"/>
                </a:cubicBezTo>
                <a:lnTo>
                  <a:pt x="11684000" y="660403"/>
                </a:lnTo>
                <a:cubicBezTo>
                  <a:pt x="11684000" y="716513"/>
                  <a:pt x="11638513" y="762000"/>
                  <a:pt x="115824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  <a:effectLst>
            <a:outerShdw blurRad="317520" dist="254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1"/>
          <p:cNvSpPr/>
          <p:nvPr/>
        </p:nvSpPr>
        <p:spPr>
          <a:xfrm>
            <a:off x="399960" y="5232240"/>
            <a:ext cx="1139148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"Le téléporteur est une simple extension de Tile : on ajoute une règle, sans toucher au moteur du jeu."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1523</Words>
  <Application>Microsoft Office PowerPoint</Application>
  <PresentationFormat>宽屏</PresentationFormat>
  <Paragraphs>252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MiSans</vt:lpstr>
      <vt:lpstr>Noto Sans SC</vt:lpstr>
      <vt:lpstr>微软雅黑</vt:lpstr>
      <vt:lpstr>Arial</vt:lpstr>
      <vt:lpstr>Calibri</vt:lpstr>
      <vt:lpstr>Calibri Light</vt:lpstr>
      <vt:lpstr>Symbol</vt:lpstr>
      <vt:lpstr>Times New Roman</vt:lpstr>
      <vt:lpstr>Wingdings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Teleport Sokoban : zero refactoring</dc:title>
  <dc:subject>Teleport Sokoban : zero refactoring</dc:subject>
  <dc:creator>Kimi</dc:creator>
  <dc:description/>
  <cp:lastModifiedBy>离 代</cp:lastModifiedBy>
  <cp:revision>6</cp:revision>
  <dcterms:created xsi:type="dcterms:W3CDTF">2025-12-10T18:04:47Z</dcterms:created>
  <dcterms:modified xsi:type="dcterms:W3CDTF">2025-12-10T22:21:05Z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{"Label":"Teleport Sokoban : zero refactoring","ContentProducer":"001191110108MACG2KBH8F10000","ProduceID":"d4sqts8osk9s2ahptbj0","ReservedCode1":"","ContentPropagator":"001191110108MACG2KBH8F20000","PropagateID":"d4sqts8osk9s2ahptbj0","ReservedCode2":""}</vt:lpwstr>
  </property>
  <property fmtid="{D5CDD505-2E9C-101B-9397-08002B2CF9AE}" pid="3" name="Notes">
    <vt:i4>23</vt:i4>
  </property>
  <property fmtid="{D5CDD505-2E9C-101B-9397-08002B2CF9AE}" pid="4" name="PresentationFormat">
    <vt:lpwstr>On-screen Show (16:9)</vt:lpwstr>
  </property>
  <property fmtid="{D5CDD505-2E9C-101B-9397-08002B2CF9AE}" pid="5" name="Slides">
    <vt:i4>23</vt:i4>
  </property>
</Properties>
</file>